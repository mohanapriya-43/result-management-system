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06988" y="397535"/>
            <a:ext cx="7334510" cy="5143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3750" b="1" spc="3" kern="0" dirty="0">
                <a:solidFill>
                  <a:srgbClr val="000000"/>
                </a:solidFill>
                <a:latin typeface="Orbitron Black" pitchFamily="34" charset="0"/>
                <a:ea typeface="Orbitron Black" pitchFamily="34" charset="-122"/>
                <a:cs typeface="Orbitron Black" pitchFamily="34" charset="-120"/>
              </a:rPr>
              <a:t>RESULT MANAGEMENT</a:t>
            </a:r>
            <a:endParaRPr lang="en-US" sz="3750" dirty="0"/>
          </a:p>
        </p:txBody>
      </p:sp>
      <p:sp>
        <p:nvSpPr>
          <p:cNvPr id="4" name="Text 1"/>
          <p:cNvSpPr/>
          <p:nvPr/>
        </p:nvSpPr>
        <p:spPr>
          <a:xfrm>
            <a:off x="2886382" y="1220353"/>
            <a:ext cx="6877310" cy="5143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3750" b="1" spc="3" kern="0" dirty="0">
                <a:solidFill>
                  <a:srgbClr val="000000"/>
                </a:solidFill>
                <a:latin typeface="Orbitron Black" pitchFamily="34" charset="0"/>
                <a:ea typeface="Orbitron Black" pitchFamily="34" charset="-122"/>
                <a:cs typeface="Orbitron Black" pitchFamily="34" charset="-120"/>
              </a:rPr>
              <a:t>SYSTEM</a:t>
            </a:r>
            <a:endParaRPr lang="en-US" sz="3750" dirty="0"/>
          </a:p>
        </p:txBody>
      </p:sp>
      <p:sp>
        <p:nvSpPr>
          <p:cNvPr id="5" name="Text 2"/>
          <p:cNvSpPr/>
          <p:nvPr/>
        </p:nvSpPr>
        <p:spPr>
          <a:xfrm>
            <a:off x="685800" y="2814638"/>
            <a:ext cx="710591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500" b="1" spc="1" kern="0" dirty="0">
                <a:solidFill>
                  <a:srgbClr val="F472B6">
                    <a:alpha val="73675"/>
                  </a:srgbClr>
                </a:solidFill>
                <a:latin typeface="Rajdhani Bold" pitchFamily="34" charset="0"/>
                <a:ea typeface="Rajdhani Bold" pitchFamily="34" charset="-122"/>
                <a:cs typeface="Rajdhani Bold" pitchFamily="34" charset="-120"/>
              </a:rPr>
              <a:t>USING HTML, CSS &amp; JAVASCRIPT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685800" y="3243263"/>
            <a:ext cx="710591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4444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Name: G.Mohana priya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85800" y="3500438"/>
            <a:ext cx="710591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4444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Subject: FSD / Web Technology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8572500" y="4572000"/>
            <a:ext cx="3429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ct val="106667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01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596503"/>
            <a:ext cx="3886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2450" b="1" spc="2" kern="0" dirty="0">
                <a:solidFill>
                  <a:srgbClr val="000000"/>
                </a:solidFill>
                <a:latin typeface="Orbitron Black" pitchFamily="34" charset="0"/>
                <a:ea typeface="Orbitron Black" pitchFamily="34" charset="-122"/>
                <a:cs typeface="Orbitron Black" pitchFamily="34" charset="-120"/>
              </a:rPr>
              <a:t>MODERN </a:t>
            </a:r>
            <a:r>
              <a:rPr lang="en-US" sz="2450" b="1" spc="2" kern="0" dirty="0">
                <a:solidFill>
                  <a:srgbClr val="000000"/>
                </a:solidFill>
                <a:latin typeface="Orbitron Black" pitchFamily="34" charset="0"/>
                <a:ea typeface="Orbitron Black" pitchFamily="34" charset="-122"/>
                <a:cs typeface="Orbitron Black" pitchFamily="34" charset="-120"/>
              </a:rPr>
              <a:t>MANAGEMENT</a:t>
            </a:r>
            <a:endParaRPr lang="en-US" sz="2450" dirty="0"/>
          </a:p>
        </p:txBody>
      </p:sp>
      <p:sp>
        <p:nvSpPr>
          <p:cNvPr id="4" name="Text 1"/>
          <p:cNvSpPr/>
          <p:nvPr/>
        </p:nvSpPr>
        <p:spPr>
          <a:xfrm>
            <a:off x="442913" y="596503"/>
            <a:ext cx="3886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2450" b="1" spc="2" kern="0" dirty="0">
                <a:solidFill>
                  <a:srgbClr val="FF00FF"/>
                </a:solidFill>
                <a:latin typeface="Orbitron Black" pitchFamily="34" charset="0"/>
                <a:ea typeface="Orbitron Black" pitchFamily="34" charset="-122"/>
                <a:cs typeface="Orbitron Black" pitchFamily="34" charset="-120"/>
              </a:rPr>
              <a:t>MODERN</a:t>
            </a:r>
            <a:endParaRPr lang="en-US" sz="2450" dirty="0"/>
          </a:p>
        </p:txBody>
      </p:sp>
      <p:sp>
        <p:nvSpPr>
          <p:cNvPr id="5" name="Text 2"/>
          <p:cNvSpPr/>
          <p:nvPr/>
        </p:nvSpPr>
        <p:spPr>
          <a:xfrm>
            <a:off x="442913" y="596503"/>
            <a:ext cx="3886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2450" b="1" spc="2" kern="0" dirty="0">
                <a:solidFill>
                  <a:srgbClr val="FF00FF"/>
                </a:solidFill>
                <a:latin typeface="Orbitron Black" pitchFamily="34" charset="0"/>
                <a:ea typeface="Orbitron Black" pitchFamily="34" charset="-122"/>
                <a:cs typeface="Orbitron Black" pitchFamily="34" charset="-120"/>
              </a:rPr>
              <a:t>MANAGEMENT</a:t>
            </a:r>
            <a:endParaRPr lang="en-US" sz="2450" dirty="0"/>
          </a:p>
        </p:txBody>
      </p:sp>
      <p:sp>
        <p:nvSpPr>
          <p:cNvPr id="6" name="Text 3"/>
          <p:cNvSpPr/>
          <p:nvPr/>
        </p:nvSpPr>
        <p:spPr>
          <a:xfrm>
            <a:off x="457200" y="1710928"/>
            <a:ext cx="38862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6667"/>
              </a:lnSpc>
              <a:buNone/>
            </a:pPr>
            <a:r>
              <a:rPr lang="en-US" sz="1200" b="1" dirty="0">
                <a:solidFill>
                  <a:srgbClr val="F472B6"/>
                </a:solidFill>
                <a:latin typeface="Rajdhani Bold" pitchFamily="34" charset="0"/>
                <a:ea typeface="Rajdhani Bold" pitchFamily="34" charset="-122"/>
                <a:cs typeface="Rajdhani Bold" pitchFamily="34" charset="-120"/>
              </a:rPr>
              <a:t>WEB-BASED ACADEMIC SOLUTIONS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57200" y="2110978"/>
            <a:ext cx="3886200" cy="4643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FFFFF">
                    <a:alpha val="90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 centralized interface designed to efficiently manage </a:t>
            </a:r>
            <a:r>
              <a:rPr lang="en-US" sz="1050" dirty="0">
                <a:solidFill>
                  <a:srgbClr val="FFFFFF">
                    <a:alpha val="90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student academic records through </a:t>
            </a:r>
            <a:r>
              <a:rPr lang="en-US" sz="1000" dirty="0">
                <a:solidFill>
                  <a:srgbClr val="FFFFFF">
                    <a:alpha val="90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modern web protocols</a:t>
            </a:r>
            <a:r>
              <a:rPr lang="en-US" sz="1050" dirty="0">
                <a:solidFill>
                  <a:srgbClr val="FFFFFF">
                    <a:alpha val="90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.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457200" y="2746772"/>
            <a:ext cx="14287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F472B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▶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657225" y="2746772"/>
            <a:ext cx="368617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4444"/>
              </a:lnSpc>
              <a:buNone/>
            </a:pPr>
            <a:r>
              <a:rPr lang="en-US" sz="950" dirty="0">
                <a:solidFill>
                  <a:srgbClr val="FFFFFF">
                    <a:alpha val="80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Stores student personal details and marks securely using client-side LocalStorage.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457200" y="3261122"/>
            <a:ext cx="14287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F472B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▶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657225" y="3261122"/>
            <a:ext cx="368617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4444"/>
              </a:lnSpc>
              <a:buNone/>
            </a:pPr>
            <a:r>
              <a:rPr lang="en-US" sz="950" dirty="0">
                <a:solidFill>
                  <a:srgbClr val="FFFFFF">
                    <a:alpha val="80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Automates the calculation of grades and final results to ensure 100% accuracy.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457200" y="3775472"/>
            <a:ext cx="14287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F472B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▶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657225" y="3775472"/>
            <a:ext cx="368617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4444"/>
              </a:lnSpc>
              <a:buNone/>
            </a:pPr>
            <a:r>
              <a:rPr lang="en-US" sz="950" dirty="0">
                <a:solidFill>
                  <a:srgbClr val="FFFFFF">
                    <a:alpha val="80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Provides a seamless, responsive user experience with modern frontend technologies.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457200" y="4346972"/>
            <a:ext cx="388620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b="1" spc="1" kern="0" dirty="0">
                <a:solidFill>
                  <a:srgbClr val="F9A8D4"/>
                </a:solidFill>
                <a:latin typeface="Rajdhani Bold" pitchFamily="34" charset="0"/>
                <a:ea typeface="Rajdhani Bold" pitchFamily="34" charset="-122"/>
                <a:cs typeface="Rajdhani Bold" pitchFamily="34" charset="-120"/>
              </a:rPr>
              <a:t>DATA INTEGRITY MEETS DESIGN</a:t>
            </a:r>
            <a:endParaRPr lang="en-US" sz="100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60000">
            <a:off x="4922044" y="1207294"/>
            <a:ext cx="3871912" cy="2728912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 rot="60000">
            <a:off x="4922044" y="1207294"/>
            <a:ext cx="3871912" cy="2728912"/>
          </a:xfrm>
          <a:prstGeom prst="rect">
            <a:avLst/>
          </a:prstGeom>
          <a:solidFill>
            <a:srgbClr val="00FFFF">
              <a:alpha val="20000"/>
            </a:srgbClr>
          </a:solidFill>
          <a:ln/>
        </p:spPr>
      </p:sp>
      <p:sp>
        <p:nvSpPr>
          <p:cNvPr id="17" name="Shape 13"/>
          <p:cNvSpPr/>
          <p:nvPr/>
        </p:nvSpPr>
        <p:spPr>
          <a:xfrm rot="-120000">
            <a:off x="6400800" y="3943350"/>
            <a:ext cx="2286000" cy="514350"/>
          </a:xfrm>
          <a:prstGeom prst="rect">
            <a:avLst/>
          </a:prstGeom>
          <a:solidFill>
            <a:srgbClr val="000000">
              <a:alpha val="70000"/>
            </a:srgbClr>
          </a:solidFill>
          <a:ln/>
        </p:spPr>
      </p:sp>
      <p:sp>
        <p:nvSpPr>
          <p:cNvPr id="18" name="Shape 14"/>
          <p:cNvSpPr/>
          <p:nvPr/>
        </p:nvSpPr>
        <p:spPr>
          <a:xfrm>
            <a:off x="6400800" y="3943350"/>
            <a:ext cx="28575" cy="514350"/>
          </a:xfrm>
          <a:prstGeom prst="rect">
            <a:avLst/>
          </a:prstGeom>
          <a:solidFill>
            <a:srgbClr val="F472B6"/>
          </a:solidFill>
          <a:ln/>
        </p:spPr>
      </p:sp>
      <p:sp>
        <p:nvSpPr>
          <p:cNvPr id="19" name="Text 15"/>
          <p:cNvSpPr/>
          <p:nvPr/>
        </p:nvSpPr>
        <p:spPr>
          <a:xfrm rot="-120000">
            <a:off x="6515100" y="4057650"/>
            <a:ext cx="20574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4286"/>
              </a:lnSpc>
              <a:buNone/>
            </a:pPr>
            <a:r>
              <a:rPr lang="en-US" sz="750" i="1" dirty="0">
                <a:solidFill>
                  <a:srgbClr val="00000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"Efficiency is the foundation of progress in the digital academic era."</a:t>
            </a:r>
            <a:endParaRPr lang="en-US" sz="750" dirty="0"/>
          </a:p>
        </p:txBody>
      </p:sp>
      <p:sp>
        <p:nvSpPr>
          <p:cNvPr id="20" name="Text 16"/>
          <p:cNvSpPr/>
          <p:nvPr/>
        </p:nvSpPr>
        <p:spPr>
          <a:xfrm rot="720000">
            <a:off x="8572500" y="4572000"/>
            <a:ext cx="3429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ct val="106667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02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471613"/>
            <a:ext cx="8458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2450" b="1" spc="2" kern="0" dirty="0">
                <a:solidFill>
                  <a:srgbClr val="000000"/>
                </a:solidFill>
                <a:latin typeface="Orbitron Black" pitchFamily="34" charset="0"/>
                <a:ea typeface="Orbitron Black" pitchFamily="34" charset="-122"/>
                <a:cs typeface="Orbitron Black" pitchFamily="34" charset="-120"/>
              </a:rPr>
              <a:t>STRATEGIC OBJECTIVES</a:t>
            </a:r>
            <a:endParaRPr lang="en-US" sz="2450" dirty="0"/>
          </a:p>
        </p:txBody>
      </p:sp>
      <p:sp>
        <p:nvSpPr>
          <p:cNvPr id="4" name="Text 1"/>
          <p:cNvSpPr/>
          <p:nvPr/>
        </p:nvSpPr>
        <p:spPr>
          <a:xfrm>
            <a:off x="628650" y="2300288"/>
            <a:ext cx="262533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500" b="1" dirty="0">
                <a:solidFill>
                  <a:srgbClr val="F472B6"/>
                </a:solidFill>
                <a:latin typeface="Orbitron Bold" pitchFamily="34" charset="0"/>
                <a:ea typeface="Orbitron Bold" pitchFamily="34" charset="-122"/>
                <a:cs typeface="Orbitron Bold" pitchFamily="34" charset="-120"/>
              </a:rPr>
              <a:t>01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1062633" y="2300288"/>
            <a:ext cx="2064544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Rajdhani Bold" pitchFamily="34" charset="0"/>
                <a:ea typeface="Rajdhani Bold" pitchFamily="34" charset="-122"/>
                <a:cs typeface="Rajdhani Bold" pitchFamily="34" charset="-120"/>
              </a:rPr>
              <a:t>SIMPLIFY MANAGEMENT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85850" y="2614613"/>
            <a:ext cx="285750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4444"/>
              </a:lnSpc>
              <a:buNone/>
            </a:pPr>
            <a:r>
              <a:rPr lang="en-US" sz="950" i="1" dirty="0">
                <a:solidFill>
                  <a:srgbClr val="000000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Optimizing academic workflows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4457700" y="2300288"/>
            <a:ext cx="357188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500" b="1" dirty="0">
                <a:solidFill>
                  <a:srgbClr val="F472B6"/>
                </a:solidFill>
                <a:latin typeface="Orbitron Bold" pitchFamily="34" charset="0"/>
                <a:ea typeface="Orbitron Bold" pitchFamily="34" charset="-122"/>
                <a:cs typeface="Orbitron Bold" pitchFamily="34" charset="-120"/>
              </a:rPr>
              <a:t>02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4986338" y="2300288"/>
            <a:ext cx="1410891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Rajdhani Bold" pitchFamily="34" charset="0"/>
                <a:ea typeface="Rajdhani Bold" pitchFamily="34" charset="-122"/>
                <a:cs typeface="Rajdhani Bold" pitchFamily="34" charset="-120"/>
              </a:rPr>
              <a:t>REDUCE ERRORS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4914900" y="2614613"/>
            <a:ext cx="285750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4444"/>
              </a:lnSpc>
              <a:buNone/>
            </a:pPr>
            <a:r>
              <a:rPr lang="en-US" sz="950" i="1" dirty="0">
                <a:solidFill>
                  <a:srgbClr val="000000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Ensuring absolute data integrity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628650" y="3157538"/>
            <a:ext cx="355402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500" b="1" dirty="0">
                <a:solidFill>
                  <a:srgbClr val="F472B6"/>
                </a:solidFill>
                <a:latin typeface="Orbitron Bold" pitchFamily="34" charset="0"/>
                <a:ea typeface="Orbitron Bold" pitchFamily="34" charset="-122"/>
                <a:cs typeface="Orbitron Bold" pitchFamily="34" charset="-120"/>
              </a:rPr>
              <a:t>03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1155502" y="3157538"/>
            <a:ext cx="1557338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Rajdhani Bold" pitchFamily="34" charset="0"/>
                <a:ea typeface="Rajdhani Bold" pitchFamily="34" charset="-122"/>
                <a:cs typeface="Rajdhani Bold" pitchFamily="34" charset="-120"/>
              </a:rPr>
              <a:t>FAST &amp; ACCURATE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1085850" y="3471863"/>
            <a:ext cx="285750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4444"/>
              </a:lnSpc>
              <a:buNone/>
            </a:pPr>
            <a:r>
              <a:rPr lang="en-US" sz="950" i="1" dirty="0">
                <a:solidFill>
                  <a:srgbClr val="000000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High-performance processing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4457700" y="3157538"/>
            <a:ext cx="335756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500" b="1" dirty="0">
                <a:solidFill>
                  <a:srgbClr val="F472B6"/>
                </a:solidFill>
                <a:latin typeface="Orbitron Bold" pitchFamily="34" charset="0"/>
                <a:ea typeface="Orbitron Bold" pitchFamily="34" charset="-122"/>
                <a:cs typeface="Orbitron Bold" pitchFamily="34" charset="-120"/>
              </a:rPr>
              <a:t>04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4964906" y="3157538"/>
            <a:ext cx="1425178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Rajdhani Bold" pitchFamily="34" charset="0"/>
                <a:ea typeface="Rajdhani Bold" pitchFamily="34" charset="-122"/>
                <a:cs typeface="Rajdhani Bold" pitchFamily="34" charset="-120"/>
              </a:rPr>
              <a:t>IMPROVE SKILLS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4914900" y="3471863"/>
            <a:ext cx="285750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4444"/>
              </a:lnSpc>
              <a:buNone/>
            </a:pPr>
            <a:r>
              <a:rPr lang="en-US" sz="950" i="1" dirty="0">
                <a:solidFill>
                  <a:srgbClr val="000000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Mastering frontend technologies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 rot="2700000">
            <a:off x="8572500" y="4572000"/>
            <a:ext cx="3429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ct val="106667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03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-120000">
            <a:off x="5569725" y="1207294"/>
            <a:ext cx="3338503" cy="2728912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5333981" y="4229100"/>
            <a:ext cx="2286000" cy="457200"/>
          </a:xfrm>
          <a:prstGeom prst="rect">
            <a:avLst/>
          </a:prstGeom>
          <a:solidFill>
            <a:srgbClr val="000000">
              <a:alpha val="7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7591406" y="4229100"/>
            <a:ext cx="28575" cy="45720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6" name="Text 2"/>
          <p:cNvSpPr/>
          <p:nvPr/>
        </p:nvSpPr>
        <p:spPr>
          <a:xfrm>
            <a:off x="5419706" y="4314825"/>
            <a:ext cx="21145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4286"/>
              </a:lnSpc>
              <a:buNone/>
            </a:pPr>
            <a:r>
              <a:rPr lang="en-US" sz="750" dirty="0">
                <a:solidFill>
                  <a:srgbClr val="F9A8D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The synergy of structure, style, and logic creates a robust digital ecosystem.</a:t>
            </a:r>
            <a:endParaRPr lang="en-US" sz="750" dirty="0"/>
          </a:p>
        </p:txBody>
      </p:sp>
      <p:sp>
        <p:nvSpPr>
          <p:cNvPr id="7" name="Text 3"/>
          <p:cNvSpPr/>
          <p:nvPr/>
        </p:nvSpPr>
        <p:spPr>
          <a:xfrm>
            <a:off x="439180" y="817959"/>
            <a:ext cx="4684222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2450" b="1" spc="2" kern="0" dirty="0">
                <a:solidFill>
                  <a:srgbClr val="000000"/>
                </a:solidFill>
                <a:latin typeface="Orbitron Black" pitchFamily="34" charset="0"/>
                <a:ea typeface="Orbitron Black" pitchFamily="34" charset="-122"/>
                <a:cs typeface="Orbitron Black" pitchFamily="34" charset="-120"/>
              </a:rPr>
              <a:t>CORE TECH STACK</a:t>
            </a:r>
            <a:endParaRPr lang="en-US" sz="2450" dirty="0"/>
          </a:p>
        </p:txBody>
      </p:sp>
      <p:sp>
        <p:nvSpPr>
          <p:cNvPr id="8" name="Text 4"/>
          <p:cNvSpPr/>
          <p:nvPr/>
        </p:nvSpPr>
        <p:spPr>
          <a:xfrm>
            <a:off x="457200" y="1589484"/>
            <a:ext cx="464818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6667"/>
              </a:lnSpc>
              <a:buNone/>
            </a:pPr>
            <a:r>
              <a:rPr lang="en-US" sz="1200" b="1" dirty="0">
                <a:solidFill>
                  <a:srgbClr val="F472B6"/>
                </a:solidFill>
                <a:latin typeface="Rajdhani Bold" pitchFamily="34" charset="0"/>
                <a:ea typeface="Rajdhani Bold" pitchFamily="34" charset="-122"/>
                <a:cs typeface="Rajdhani Bold" pitchFamily="34" charset="-120"/>
              </a:rPr>
              <a:t>THE BLUEPRINT OF THE SYSTEM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426263" y="1989534"/>
            <a:ext cx="4710056" cy="707231"/>
          </a:xfrm>
          <a:prstGeom prst="rect">
            <a:avLst/>
          </a:prstGeom>
          <a:solidFill>
            <a:srgbClr val="000000">
              <a:alpha val="50000"/>
            </a:srgbClr>
          </a:solidFill>
          <a:ln w="9144">
            <a:solidFill>
              <a:srgbClr val="FF00FF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551188" y="2110978"/>
            <a:ext cx="4460206" cy="4643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FFFFF">
                    <a:alpha val="90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The application is built on a </a:t>
            </a:r>
            <a:r>
              <a:rPr lang="en-US" sz="1050" dirty="0">
                <a:solidFill>
                  <a:srgbClr val="FFFFFF">
                    <a:alpha val="90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pure frontend architecture</a:t>
            </a:r>
            <a:r>
              <a:rPr lang="en-US" sz="1050" dirty="0">
                <a:solidFill>
                  <a:srgbClr val="FFFFFF">
                    <a:alpha val="90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, leveraging </a:t>
            </a:r>
            <a:r>
              <a:rPr lang="en-US" sz="1050" dirty="0">
                <a:solidFill>
                  <a:srgbClr val="FFFFFF">
                    <a:alpha val="90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modern web standards for performance and persistence.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457200" y="2861072"/>
            <a:ext cx="226694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HTML5</a:t>
            </a:r>
            <a:endParaRPr lang="en-US" sz="800" dirty="0"/>
          </a:p>
        </p:txBody>
      </p:sp>
      <p:sp>
        <p:nvSpPr>
          <p:cNvPr id="12" name="Text 8"/>
          <p:cNvSpPr/>
          <p:nvPr/>
        </p:nvSpPr>
        <p:spPr>
          <a:xfrm>
            <a:off x="457200" y="3061097"/>
            <a:ext cx="2266941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4286"/>
              </a:lnSpc>
              <a:buNone/>
            </a:pPr>
            <a:r>
              <a:rPr lang="en-US" sz="750" dirty="0">
                <a:solidFill>
                  <a:srgbClr val="FFFFFF">
                    <a:alpha val="70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Semantic structure and the backbone of the interface.</a:t>
            </a:r>
            <a:endParaRPr lang="en-US" sz="750" dirty="0"/>
          </a:p>
        </p:txBody>
      </p:sp>
      <p:sp>
        <p:nvSpPr>
          <p:cNvPr id="13" name="Text 9"/>
          <p:cNvSpPr/>
          <p:nvPr/>
        </p:nvSpPr>
        <p:spPr>
          <a:xfrm>
            <a:off x="2838441" y="2861072"/>
            <a:ext cx="226694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CSS3</a:t>
            </a:r>
            <a:endParaRPr lang="en-US" sz="800" dirty="0"/>
          </a:p>
        </p:txBody>
      </p:sp>
      <p:sp>
        <p:nvSpPr>
          <p:cNvPr id="14" name="Text 10"/>
          <p:cNvSpPr/>
          <p:nvPr/>
        </p:nvSpPr>
        <p:spPr>
          <a:xfrm>
            <a:off x="2838441" y="3061097"/>
            <a:ext cx="2266941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4286"/>
              </a:lnSpc>
              <a:buNone/>
            </a:pPr>
            <a:r>
              <a:rPr lang="en-US" sz="750" dirty="0">
                <a:solidFill>
                  <a:srgbClr val="FFFFFF">
                    <a:alpha val="70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Responsive styling and cyberpunk visual aesthetics.</a:t>
            </a:r>
            <a:endParaRPr lang="en-US" sz="750" dirty="0"/>
          </a:p>
        </p:txBody>
      </p:sp>
      <p:sp>
        <p:nvSpPr>
          <p:cNvPr id="15" name="Text 11"/>
          <p:cNvSpPr/>
          <p:nvPr/>
        </p:nvSpPr>
        <p:spPr>
          <a:xfrm>
            <a:off x="457200" y="3461147"/>
            <a:ext cx="226694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JAVASCRIPT</a:t>
            </a:r>
            <a:endParaRPr lang="en-US" sz="800" dirty="0"/>
          </a:p>
        </p:txBody>
      </p:sp>
      <p:sp>
        <p:nvSpPr>
          <p:cNvPr id="16" name="Text 12"/>
          <p:cNvSpPr/>
          <p:nvPr/>
        </p:nvSpPr>
        <p:spPr>
          <a:xfrm>
            <a:off x="457200" y="3661172"/>
            <a:ext cx="2266941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4286"/>
              </a:lnSpc>
              <a:buNone/>
            </a:pPr>
            <a:r>
              <a:rPr lang="en-US" sz="750" dirty="0">
                <a:solidFill>
                  <a:srgbClr val="FFFFFF">
                    <a:alpha val="70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Core logic, calculations, and interactive elements.</a:t>
            </a:r>
            <a:endParaRPr lang="en-US" sz="750" dirty="0"/>
          </a:p>
        </p:txBody>
      </p:sp>
      <p:sp>
        <p:nvSpPr>
          <p:cNvPr id="17" name="Text 13"/>
          <p:cNvSpPr/>
          <p:nvPr/>
        </p:nvSpPr>
        <p:spPr>
          <a:xfrm>
            <a:off x="2838441" y="3461147"/>
            <a:ext cx="226694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LOCALSTORAGE</a:t>
            </a:r>
            <a:endParaRPr lang="en-US" sz="800" dirty="0"/>
          </a:p>
        </p:txBody>
      </p:sp>
      <p:sp>
        <p:nvSpPr>
          <p:cNvPr id="18" name="Text 14"/>
          <p:cNvSpPr/>
          <p:nvPr/>
        </p:nvSpPr>
        <p:spPr>
          <a:xfrm>
            <a:off x="2838441" y="3661172"/>
            <a:ext cx="2266941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4286"/>
              </a:lnSpc>
              <a:buNone/>
            </a:pPr>
            <a:r>
              <a:rPr lang="en-US" sz="750" dirty="0">
                <a:solidFill>
                  <a:srgbClr val="FFFFFF">
                    <a:alpha val="70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Persistent client-side data storage without a backend.</a:t>
            </a:r>
            <a:endParaRPr lang="en-US" sz="750" dirty="0"/>
          </a:p>
        </p:txBody>
      </p:sp>
      <p:sp>
        <p:nvSpPr>
          <p:cNvPr id="19" name="Text 15"/>
          <p:cNvSpPr/>
          <p:nvPr/>
        </p:nvSpPr>
        <p:spPr>
          <a:xfrm>
            <a:off x="457200" y="4118372"/>
            <a:ext cx="4648181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b="1" spc="1" kern="0" dirty="0">
                <a:solidFill>
                  <a:srgbClr val="F9A8D4"/>
                </a:solidFill>
                <a:latin typeface="Rajdhani Bold" pitchFamily="34" charset="0"/>
                <a:ea typeface="Rajdhani Bold" pitchFamily="34" charset="-122"/>
                <a:cs typeface="Rajdhani Bold" pitchFamily="34" charset="-120"/>
              </a:rPr>
              <a:t>CODE IS THE NEW FUNDAMENTAL BLOCK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 rot="720000">
            <a:off x="3886451" y="685800"/>
            <a:ext cx="1218930" cy="271463"/>
          </a:xfrm>
          <a:prstGeom prst="rect">
            <a:avLst/>
          </a:prstGeom>
          <a:solidFill>
            <a:srgbClr val="000000">
              <a:alpha val="70000"/>
            </a:srgbClr>
          </a:solidFill>
          <a:ln w="9144">
            <a:solidFill>
              <a:srgbClr val="E5E7EB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 rot="720000">
            <a:off x="3886451" y="685800"/>
            <a:ext cx="1218930" cy="271463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t">
            <a:spAutoFit/>
          </a:bodyPr>
          <a:lstStyle/>
          <a:p>
            <a:pPr algn="l" indent="0" marL="0">
              <a:lnSpc>
                <a:spcPct val="114286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STACK: JS/HTML/CSS/LS</a:t>
            </a:r>
            <a:endParaRPr lang="en-US" sz="750" dirty="0"/>
          </a:p>
        </p:txBody>
      </p:sp>
      <p:sp>
        <p:nvSpPr>
          <p:cNvPr id="22" name="Text 18"/>
          <p:cNvSpPr/>
          <p:nvPr/>
        </p:nvSpPr>
        <p:spPr>
          <a:xfrm rot="-720000">
            <a:off x="8572500" y="4572000"/>
            <a:ext cx="3429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ct val="106667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04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-120000">
            <a:off x="5569725" y="1435894"/>
            <a:ext cx="3338504" cy="2271713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 rot="720000">
            <a:off x="4377848" y="1285875"/>
            <a:ext cx="1912268" cy="614363"/>
          </a:xfrm>
          <a:prstGeom prst="rect">
            <a:avLst/>
          </a:prstGeom>
          <a:solidFill>
            <a:srgbClr val="000000">
              <a:alpha val="50000"/>
            </a:srgbClr>
          </a:solidFill>
          <a:ln w="9144">
            <a:solidFill>
              <a:srgbClr val="00FFFF">
                <a:alpha val="40000"/>
              </a:srgbClr>
            </a:solidFill>
            <a:prstDash val="solid"/>
          </a:ln>
        </p:spPr>
      </p:sp>
      <p:sp>
        <p:nvSpPr>
          <p:cNvPr id="5" name="Text 1"/>
          <p:cNvSpPr/>
          <p:nvPr/>
        </p:nvSpPr>
        <p:spPr>
          <a:xfrm rot="720000">
            <a:off x="4556443" y="1457325"/>
            <a:ext cx="1555077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L</a:t>
            </a:r>
            <a:r>
              <a:rPr lang="en-US" sz="1500" b="1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O</a:t>
            </a:r>
            <a:r>
              <a:rPr lang="en-US" sz="1500" b="1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G</a:t>
            </a:r>
            <a:r>
              <a:rPr lang="en-US" sz="1500" b="1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I</a:t>
            </a:r>
            <a:r>
              <a:rPr lang="en-US" sz="1500" b="1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</a:t>
            </a:r>
            <a:r>
              <a:rPr lang="en-US" sz="1500" b="1" dirty="0">
                <a:solidFill>
                  <a:srgbClr val="00000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 </a:t>
            </a:r>
            <a:r>
              <a:rPr lang="en-US" sz="1500" b="1" dirty="0">
                <a:solidFill>
                  <a:srgbClr val="F472B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+</a:t>
            </a:r>
            <a:r>
              <a:rPr lang="en-US" sz="1500" b="1" dirty="0">
                <a:solidFill>
                  <a:srgbClr val="00000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 </a:t>
            </a:r>
            <a:r>
              <a:rPr lang="en-US" sz="1500" b="1" dirty="0">
                <a:solidFill>
                  <a:srgbClr val="00000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D</a:t>
            </a:r>
            <a:r>
              <a:rPr lang="en-US" sz="1500" b="1" dirty="0">
                <a:solidFill>
                  <a:srgbClr val="00000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</a:t>
            </a:r>
            <a:r>
              <a:rPr lang="en-US" sz="1500" b="1" dirty="0">
                <a:solidFill>
                  <a:srgbClr val="00000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T</a:t>
            </a:r>
            <a:r>
              <a:rPr lang="en-US" sz="1500" b="1" dirty="0">
                <a:solidFill>
                  <a:srgbClr val="00000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</a:t>
            </a:r>
            <a:endParaRPr lang="en-US" sz="1500" dirty="0"/>
          </a:p>
        </p:txBody>
      </p:sp>
      <p:sp>
        <p:nvSpPr>
          <p:cNvPr id="6" name="Text 2"/>
          <p:cNvSpPr/>
          <p:nvPr/>
        </p:nvSpPr>
        <p:spPr>
          <a:xfrm>
            <a:off x="457200" y="871538"/>
            <a:ext cx="4648181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2450" b="1" spc="2" kern="0" dirty="0">
                <a:solidFill>
                  <a:srgbClr val="000000"/>
                </a:solidFill>
                <a:latin typeface="Orbitron Black" pitchFamily="34" charset="0"/>
                <a:ea typeface="Orbitron Black" pitchFamily="34" charset="-122"/>
                <a:cs typeface="Orbitron Black" pitchFamily="34" charset="-120"/>
              </a:rPr>
              <a:t>SYSTEM</a:t>
            </a:r>
            <a:endParaRPr lang="en-US" sz="2450" dirty="0"/>
          </a:p>
        </p:txBody>
      </p:sp>
      <p:sp>
        <p:nvSpPr>
          <p:cNvPr id="7" name="Text 3"/>
          <p:cNvSpPr/>
          <p:nvPr/>
        </p:nvSpPr>
        <p:spPr>
          <a:xfrm>
            <a:off x="457200" y="1271588"/>
            <a:ext cx="4648181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2450" b="1" spc="2" kern="0" dirty="0">
                <a:solidFill>
                  <a:srgbClr val="000000"/>
                </a:solidFill>
                <a:latin typeface="Orbitron Black" pitchFamily="34" charset="0"/>
                <a:ea typeface="Orbitron Black" pitchFamily="34" charset="-122"/>
                <a:cs typeface="Orbitron Black" pitchFamily="34" charset="-120"/>
              </a:rPr>
              <a:t>ARCHITECTURE</a:t>
            </a:r>
            <a:endParaRPr lang="en-US" sz="2450" dirty="0"/>
          </a:p>
        </p:txBody>
      </p:sp>
      <p:sp>
        <p:nvSpPr>
          <p:cNvPr id="8" name="Text 4"/>
          <p:cNvSpPr/>
          <p:nvPr/>
        </p:nvSpPr>
        <p:spPr>
          <a:xfrm>
            <a:off x="457200" y="2043113"/>
            <a:ext cx="464818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6667"/>
              </a:lnSpc>
              <a:buNone/>
            </a:pPr>
            <a:r>
              <a:rPr lang="en-US" sz="1200" b="1" dirty="0">
                <a:solidFill>
                  <a:srgbClr val="F472B6"/>
                </a:solidFill>
                <a:latin typeface="Rajdhani Bold" pitchFamily="34" charset="0"/>
                <a:ea typeface="Rajdhani Bold" pitchFamily="34" charset="-122"/>
                <a:cs typeface="Rajdhani Bold" pitchFamily="34" charset="-120"/>
              </a:rPr>
              <a:t>CORE OPERATIONAL MODULES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585788" y="2443163"/>
            <a:ext cx="2109778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LOGIN PAGE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585788" y="2671763"/>
            <a:ext cx="210977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4286"/>
              </a:lnSpc>
              <a:buNone/>
            </a:pPr>
            <a:r>
              <a:rPr lang="en-US" sz="750" dirty="0">
                <a:solidFill>
                  <a:srgbClr val="FFFFFF">
                    <a:alpha val="70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Secure administrative access point and authentication gateway.</a:t>
            </a:r>
            <a:endParaRPr lang="en-US" sz="750" dirty="0"/>
          </a:p>
        </p:txBody>
      </p:sp>
      <p:sp>
        <p:nvSpPr>
          <p:cNvPr id="11" name="Text 7"/>
          <p:cNvSpPr/>
          <p:nvPr/>
        </p:nvSpPr>
        <p:spPr>
          <a:xfrm>
            <a:off x="2995603" y="2443163"/>
            <a:ext cx="2109778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F9A8D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ADD STUDENT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2995603" y="2671763"/>
            <a:ext cx="210977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4286"/>
              </a:lnSpc>
              <a:buNone/>
            </a:pPr>
            <a:r>
              <a:rPr lang="en-US" sz="750" dirty="0">
                <a:solidFill>
                  <a:srgbClr val="FFFFFF">
                    <a:alpha val="70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Registration module for creating new student profiles.</a:t>
            </a:r>
            <a:endParaRPr lang="en-US" sz="750" dirty="0"/>
          </a:p>
        </p:txBody>
      </p:sp>
      <p:sp>
        <p:nvSpPr>
          <p:cNvPr id="13" name="Text 9"/>
          <p:cNvSpPr/>
          <p:nvPr/>
        </p:nvSpPr>
        <p:spPr>
          <a:xfrm>
            <a:off x="585788" y="3128963"/>
            <a:ext cx="2109778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ADD MARKS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585788" y="3357563"/>
            <a:ext cx="210977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4286"/>
              </a:lnSpc>
              <a:buNone/>
            </a:pPr>
            <a:r>
              <a:rPr lang="en-US" sz="750" dirty="0">
                <a:solidFill>
                  <a:srgbClr val="FFFFFF">
                    <a:alpha val="70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Interface for linking academic performance to student records.</a:t>
            </a:r>
            <a:endParaRPr lang="en-US" sz="750" dirty="0"/>
          </a:p>
        </p:txBody>
      </p:sp>
      <p:sp>
        <p:nvSpPr>
          <p:cNvPr id="15" name="Text 11"/>
          <p:cNvSpPr/>
          <p:nvPr/>
        </p:nvSpPr>
        <p:spPr>
          <a:xfrm>
            <a:off x="2995603" y="3128963"/>
            <a:ext cx="2109778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F9A8D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VIEW RESULTS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2995603" y="3357563"/>
            <a:ext cx="210977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4286"/>
              </a:lnSpc>
              <a:buNone/>
            </a:pPr>
            <a:r>
              <a:rPr lang="en-US" sz="750" dirty="0">
                <a:solidFill>
                  <a:srgbClr val="FFFFFF">
                    <a:alpha val="70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Dynamic reporting dashboard for comprehensive result analysis.</a:t>
            </a:r>
            <a:endParaRPr lang="en-US" sz="750" dirty="0"/>
          </a:p>
        </p:txBody>
      </p:sp>
      <p:sp>
        <p:nvSpPr>
          <p:cNvPr id="17" name="Text 13"/>
          <p:cNvSpPr/>
          <p:nvPr/>
        </p:nvSpPr>
        <p:spPr>
          <a:xfrm>
            <a:off x="600075" y="3843338"/>
            <a:ext cx="1741289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b="1" spc="1" kern="0" dirty="0">
                <a:solidFill>
                  <a:srgbClr val="FFFFFF"/>
                </a:solidFill>
                <a:latin typeface="Rajdhani Bold" pitchFamily="34" charset="0"/>
                <a:ea typeface="Rajdhani Bold" pitchFamily="34" charset="-122"/>
                <a:cs typeface="Rajdhani Bold" pitchFamily="34" charset="-120"/>
              </a:rPr>
              <a:t>MODULAR DESIGN ENSURES</a:t>
            </a:r>
            <a:r>
              <a:rPr lang="en-US" sz="1000" b="1" spc="1" kern="0" dirty="0">
                <a:solidFill>
                  <a:srgbClr val="FFFFFF"/>
                </a:solidFill>
                <a:latin typeface="Rajdhani Bold" pitchFamily="34" charset="0"/>
                <a:ea typeface="Rajdhani Bold" pitchFamily="34" charset="-122"/>
                <a:cs typeface="Rajdhani Bold" pitchFamily="34" charset="-120"/>
              </a:rPr>
              <a:t>
</a:t>
            </a:r>
            <a:r>
              <a:rPr lang="en-US" sz="1000" b="1" spc="1" kern="0" dirty="0">
                <a:solidFill>
                  <a:srgbClr val="FFFFFF"/>
                </a:solidFill>
                <a:latin typeface="Rajdhani Bold" pitchFamily="34" charset="0"/>
                <a:ea typeface="Rajdhani Bold" pitchFamily="34" charset="-122"/>
                <a:cs typeface="Rajdhani Bold" pitchFamily="34" charset="-120"/>
              </a:rPr>
              <a:t>SCALABILITY AND CLARITY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 rot="-720000">
            <a:off x="8572500" y="4572000"/>
            <a:ext cx="3429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ct val="106667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05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 rot="360000">
            <a:off x="-342900" y="1200150"/>
            <a:ext cx="2743200" cy="2743200"/>
          </a:xfrm>
          <a:prstGeom prst="rect">
            <a:avLst/>
          </a:prstGeom>
          <a:solidFill>
            <a:srgbClr val="000000">
              <a:alpha val="0"/>
            </a:srgbClr>
          </a:solidFill>
          <a:ln w="9144">
            <a:solidFill>
              <a:srgbClr val="00FFFF">
                <a:alpha val="30000"/>
              </a:srgbClr>
            </a:solidFill>
            <a:prstDash val="solid"/>
          </a:ln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360000">
            <a:off x="-342900" y="1200150"/>
            <a:ext cx="2743200" cy="274320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2437231" y="1285875"/>
            <a:ext cx="1041734" cy="271463"/>
          </a:xfrm>
          <a:prstGeom prst="rect">
            <a:avLst/>
          </a:prstGeom>
          <a:solidFill>
            <a:srgbClr val="00FFFF">
              <a:alpha val="10000"/>
            </a:srgbClr>
          </a:solidFill>
          <a:ln w="9144">
            <a:solidFill>
              <a:srgbClr val="00FFFF">
                <a:alpha val="30000"/>
              </a:srgbClr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2437231" y="1285875"/>
            <a:ext cx="1041734" cy="271463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t">
            <a:spAutoFit/>
          </a:bodyPr>
          <a:lstStyle/>
          <a:p>
            <a:pPr algn="l" indent="0" marL="0">
              <a:lnSpc>
                <a:spcPct val="106667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status:// access_granted</a:t>
            </a:r>
            <a:endParaRPr lang="en-US" sz="600" dirty="0"/>
          </a:p>
        </p:txBody>
      </p:sp>
      <p:sp>
        <p:nvSpPr>
          <p:cNvPr id="7" name="Shape 3"/>
          <p:cNvSpPr/>
          <p:nvPr/>
        </p:nvSpPr>
        <p:spPr>
          <a:xfrm>
            <a:off x="2731911" y="3586163"/>
            <a:ext cx="861355" cy="271463"/>
          </a:xfrm>
          <a:prstGeom prst="rect">
            <a:avLst/>
          </a:prstGeom>
          <a:solidFill>
            <a:srgbClr val="00FFFF">
              <a:alpha val="10000"/>
            </a:srgbClr>
          </a:solidFill>
          <a:ln w="9144">
            <a:solidFill>
              <a:srgbClr val="00FFFF">
                <a:alpha val="30000"/>
              </a:srgbClr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2731911" y="3586163"/>
            <a:ext cx="861355" cy="271463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t">
            <a:spAutoFit/>
          </a:bodyPr>
          <a:lstStyle/>
          <a:p>
            <a:pPr algn="l" indent="0" marL="0">
              <a:lnSpc>
                <a:spcPct val="106667"/>
              </a:lnSpc>
              <a:buNone/>
            </a:pPr>
            <a:r>
              <a:rPr lang="en-US" sz="600" dirty="0">
                <a:solidFill>
                  <a:srgbClr val="F9A8D4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auth_token: verified</a:t>
            </a:r>
            <a:endParaRPr lang="en-US" sz="600" dirty="0"/>
          </a:p>
        </p:txBody>
      </p:sp>
      <p:sp>
        <p:nvSpPr>
          <p:cNvPr id="9" name="Text 5"/>
          <p:cNvSpPr/>
          <p:nvPr/>
        </p:nvSpPr>
        <p:spPr>
          <a:xfrm>
            <a:off x="3695691" y="697409"/>
            <a:ext cx="4648181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2450" b="1" spc="2" kern="0" dirty="0">
                <a:solidFill>
                  <a:srgbClr val="000000"/>
                </a:solidFill>
                <a:latin typeface="Orbitron Black" pitchFamily="34" charset="0"/>
                <a:ea typeface="Orbitron Black" pitchFamily="34" charset="-122"/>
                <a:cs typeface="Orbitron Black" pitchFamily="34" charset="-120"/>
              </a:rPr>
              <a:t>LOGIN &amp;</a:t>
            </a:r>
            <a:endParaRPr lang="en-US" sz="2450" dirty="0"/>
          </a:p>
        </p:txBody>
      </p:sp>
      <p:sp>
        <p:nvSpPr>
          <p:cNvPr id="10" name="Text 6"/>
          <p:cNvSpPr/>
          <p:nvPr/>
        </p:nvSpPr>
        <p:spPr>
          <a:xfrm>
            <a:off x="4152891" y="1154609"/>
            <a:ext cx="4190981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2450" b="1" spc="2" kern="0" dirty="0">
                <a:solidFill>
                  <a:srgbClr val="000000"/>
                </a:solidFill>
                <a:latin typeface="Orbitron Black" pitchFamily="34" charset="0"/>
                <a:ea typeface="Orbitron Black" pitchFamily="34" charset="-122"/>
                <a:cs typeface="Orbitron Black" pitchFamily="34" charset="-120"/>
              </a:rPr>
              <a:t>DASHBOARD</a:t>
            </a:r>
            <a:endParaRPr lang="en-US" sz="2450" dirty="0"/>
          </a:p>
        </p:txBody>
      </p:sp>
      <p:sp>
        <p:nvSpPr>
          <p:cNvPr id="11" name="Text 7"/>
          <p:cNvSpPr/>
          <p:nvPr/>
        </p:nvSpPr>
        <p:spPr>
          <a:xfrm>
            <a:off x="4038591" y="1926134"/>
            <a:ext cx="464818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6667"/>
              </a:lnSpc>
              <a:buNone/>
            </a:pPr>
            <a:r>
              <a:rPr lang="en-US" sz="1200" b="1" dirty="0">
                <a:solidFill>
                  <a:srgbClr val="F472B6"/>
                </a:solidFill>
                <a:latin typeface="Rajdhani Bold" pitchFamily="34" charset="0"/>
                <a:ea typeface="Rajdhani Bold" pitchFamily="34" charset="-122"/>
                <a:cs typeface="Rajdhani Bold" pitchFamily="34" charset="-120"/>
              </a:rPr>
              <a:t>THE GATEWAY TO SYSTEM CONTROL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4038591" y="2326184"/>
            <a:ext cx="4648181" cy="4643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FFFFF">
                    <a:alpha val="90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 streamlined </a:t>
            </a:r>
            <a:r>
              <a:rPr lang="en-US" sz="1050" dirty="0">
                <a:solidFill>
                  <a:srgbClr val="FFFFFF">
                    <a:alpha val="90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authentication interface</a:t>
            </a:r>
            <a:r>
              <a:rPr lang="en-US" sz="1050" dirty="0">
                <a:solidFill>
                  <a:srgbClr val="FFFFFF">
                    <a:alpha val="90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 designed for administrative </a:t>
            </a:r>
            <a:r>
              <a:rPr lang="en-US" sz="1050" dirty="0">
                <a:solidFill>
                  <a:srgbClr val="FFFFFF">
                    <a:alpha val="90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access, ensuring a secure entry point to the management environment.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4181466" y="2961977"/>
            <a:ext cx="2677985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Simple login interface (no backend required)</a:t>
            </a:r>
            <a:endParaRPr lang="en-US" sz="950" dirty="0"/>
          </a:p>
        </p:txBody>
      </p:sp>
      <p:sp>
        <p:nvSpPr>
          <p:cNvPr id="14" name="Text 10"/>
          <p:cNvSpPr/>
          <p:nvPr/>
        </p:nvSpPr>
        <p:spPr>
          <a:xfrm>
            <a:off x="4181466" y="3285232"/>
            <a:ext cx="2803224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Instant redirection to the main dashboard hub</a:t>
            </a:r>
            <a:endParaRPr lang="en-US" sz="950" dirty="0"/>
          </a:p>
        </p:txBody>
      </p:sp>
      <p:sp>
        <p:nvSpPr>
          <p:cNvPr id="15" name="Text 11"/>
          <p:cNvSpPr/>
          <p:nvPr/>
        </p:nvSpPr>
        <p:spPr>
          <a:xfrm>
            <a:off x="4181466" y="3608487"/>
            <a:ext cx="2751544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Centralized navigation for all system modules</a:t>
            </a:r>
            <a:endParaRPr lang="en-US" sz="950" dirty="0"/>
          </a:p>
        </p:txBody>
      </p:sp>
      <p:sp>
        <p:nvSpPr>
          <p:cNvPr id="16" name="Text 12"/>
          <p:cNvSpPr/>
          <p:nvPr/>
        </p:nvSpPr>
        <p:spPr>
          <a:xfrm>
            <a:off x="4181466" y="4017466"/>
            <a:ext cx="3720331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i="1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"Access is the first step toward total system management—</a:t>
            </a:r>
            <a:r>
              <a:rPr lang="en-US" sz="1050" i="1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
</a:t>
            </a:r>
            <a:r>
              <a:rPr lang="en-US" sz="1050" i="1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where data becomes actionable insight."</a:t>
            </a:r>
            <a:endParaRPr lang="en-US" sz="1050" dirty="0"/>
          </a:p>
        </p:txBody>
      </p:sp>
      <p:sp>
        <p:nvSpPr>
          <p:cNvPr id="17" name="Text 13"/>
          <p:cNvSpPr/>
          <p:nvPr/>
        </p:nvSpPr>
        <p:spPr>
          <a:xfrm rot="-720000">
            <a:off x="8572500" y="4572000"/>
            <a:ext cx="3429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ct val="106667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06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 rot="-120000">
            <a:off x="4914900" y="1200150"/>
            <a:ext cx="3886200" cy="2743200"/>
          </a:xfrm>
          <a:prstGeom prst="rect">
            <a:avLst/>
          </a:prstGeom>
          <a:solidFill>
            <a:srgbClr val="000000">
              <a:alpha val="0"/>
            </a:srgbClr>
          </a:solidFill>
          <a:ln w="9144">
            <a:solidFill>
              <a:srgbClr val="00FFFF">
                <a:alpha val="30000"/>
              </a:srgbClr>
            </a:solidFill>
            <a:prstDash val="solid"/>
          </a:ln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-120000">
            <a:off x="4914900" y="1200150"/>
            <a:ext cx="3886200" cy="274320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 rot="-120000">
            <a:off x="4914655" y="1200404"/>
            <a:ext cx="3871913" cy="2728912"/>
          </a:xfrm>
          <a:prstGeom prst="rect">
            <a:avLst/>
          </a:prstGeom>
          <a:solidFill>
            <a:srgbClr val="00FFFF">
              <a:alpha val="2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 rot="180000">
            <a:off x="7270107" y="685800"/>
            <a:ext cx="1416691" cy="314325"/>
          </a:xfrm>
          <a:prstGeom prst="rect">
            <a:avLst/>
          </a:prstGeom>
          <a:solidFill>
            <a:srgbClr val="000000">
              <a:alpha val="70000"/>
            </a:srgbClr>
          </a:solidFill>
          <a:ln/>
        </p:spPr>
      </p:sp>
      <p:sp>
        <p:nvSpPr>
          <p:cNvPr id="7" name="Shape 3"/>
          <p:cNvSpPr/>
          <p:nvPr/>
        </p:nvSpPr>
        <p:spPr>
          <a:xfrm>
            <a:off x="8658225" y="685800"/>
            <a:ext cx="28575" cy="3143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8" name="Text 4"/>
          <p:cNvSpPr/>
          <p:nvPr/>
        </p:nvSpPr>
        <p:spPr>
          <a:xfrm rot="180000">
            <a:off x="7384405" y="771525"/>
            <a:ext cx="121667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4286"/>
              </a:lnSpc>
              <a:buNone/>
            </a:pPr>
            <a:r>
              <a:rPr lang="en-US" sz="700" b="1" dirty="0">
                <a:solidFill>
                  <a:srgbClr val="F9A8D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PERSISTENT DATA ENTRY</a:t>
            </a:r>
            <a:endParaRPr lang="en-US" sz="700" dirty="0"/>
          </a:p>
        </p:txBody>
      </p:sp>
      <p:sp>
        <p:nvSpPr>
          <p:cNvPr id="9" name="Text 5"/>
          <p:cNvSpPr/>
          <p:nvPr/>
        </p:nvSpPr>
        <p:spPr>
          <a:xfrm>
            <a:off x="457200" y="666155"/>
            <a:ext cx="38862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8889"/>
              </a:lnSpc>
              <a:buNone/>
            </a:pPr>
            <a:r>
              <a:rPr lang="en-US" sz="1800" b="1" spc="1" kern="0" dirty="0">
                <a:solidFill>
                  <a:srgbClr val="000000"/>
                </a:solidFill>
                <a:latin typeface="Orbitron Black" pitchFamily="34" charset="0"/>
                <a:ea typeface="Orbitron Black" pitchFamily="34" charset="-122"/>
                <a:cs typeface="Orbitron Black" pitchFamily="34" charset="-120"/>
              </a:rPr>
              <a:t>STUDENT REGISTRATION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457200" y="1294805"/>
            <a:ext cx="388620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500" b="1" spc="1" kern="0" dirty="0">
                <a:solidFill>
                  <a:srgbClr val="F472B6"/>
                </a:solidFill>
                <a:latin typeface="Rajdhani Bold" pitchFamily="34" charset="0"/>
                <a:ea typeface="Rajdhani Bold" pitchFamily="34" charset="-122"/>
                <a:cs typeface="Rajdhani Bold" pitchFamily="34" charset="-120"/>
              </a:rPr>
              <a:t>INITIALIZING DATA PROFILES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471488" y="1294805"/>
            <a:ext cx="388620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500" b="1" spc="1" kern="0" dirty="0">
                <a:solidFill>
                  <a:srgbClr val="F472B6"/>
                </a:solidFill>
                <a:latin typeface="Rajdhani Bold" pitchFamily="34" charset="0"/>
                <a:ea typeface="Rajdhani Bold" pitchFamily="34" charset="-122"/>
                <a:cs typeface="Rajdhani Bold" pitchFamily="34" charset="-120"/>
              </a:rPr>
              <a:t>INITIALIZING DATA PROFILES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442913" y="1294805"/>
            <a:ext cx="388620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500" b="1" spc="1" kern="0" dirty="0">
                <a:solidFill>
                  <a:srgbClr val="F472B6"/>
                </a:solidFill>
                <a:latin typeface="Rajdhani Bold" pitchFamily="34" charset="0"/>
                <a:ea typeface="Rajdhani Bold" pitchFamily="34" charset="-122"/>
                <a:cs typeface="Rajdhani Bold" pitchFamily="34" charset="-120"/>
              </a:rPr>
              <a:t>INITIALIZING DATA PROFILES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457200" y="1980605"/>
            <a:ext cx="3886200" cy="6965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FFFFF">
                    <a:alpha val="90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The </a:t>
            </a:r>
            <a:r>
              <a:rPr lang="en-US" sz="1050" dirty="0">
                <a:solidFill>
                  <a:srgbClr val="FFFFFF">
                    <a:alpha val="90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registration module</a:t>
            </a:r>
            <a:r>
              <a:rPr lang="en-US" sz="1050" dirty="0">
                <a:solidFill>
                  <a:srgbClr val="FFFFFF">
                    <a:alpha val="90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 serves as the primary gateway for </a:t>
            </a:r>
            <a:r>
              <a:rPr lang="en-US" sz="1050" dirty="0">
                <a:solidFill>
                  <a:srgbClr val="FFFFFF">
                    <a:alpha val="90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capturing essential student information and </a:t>
            </a:r>
            <a:r>
              <a:rPr lang="en-US" sz="1050" dirty="0">
                <a:solidFill>
                  <a:srgbClr val="F9A8D4">
                    <a:alpha val="90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committing it </a:t>
            </a:r>
            <a:r>
              <a:rPr lang="en-US" sz="1050" dirty="0">
                <a:solidFill>
                  <a:srgbClr val="F9A8D4">
                    <a:alpha val="90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to memory</a:t>
            </a:r>
            <a:r>
              <a:rPr lang="en-US" sz="1050" dirty="0">
                <a:solidFill>
                  <a:srgbClr val="FFFFFF">
                    <a:alpha val="90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.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614363" y="2848570"/>
            <a:ext cx="3729038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4444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CORE IDENTITY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614363" y="3048595"/>
            <a:ext cx="3729038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4286"/>
              </a:lnSpc>
              <a:buNone/>
            </a:pPr>
            <a:r>
              <a:rPr lang="en-US" sz="750" dirty="0">
                <a:solidFill>
                  <a:srgbClr val="FFFFFF">
                    <a:alpha val="80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Captures unique Roll Numbers and Full Names to establish student records.</a:t>
            </a:r>
            <a:endParaRPr lang="en-US" sz="750" dirty="0"/>
          </a:p>
        </p:txBody>
      </p:sp>
      <p:sp>
        <p:nvSpPr>
          <p:cNvPr id="16" name="Text 12"/>
          <p:cNvSpPr/>
          <p:nvPr/>
        </p:nvSpPr>
        <p:spPr>
          <a:xfrm>
            <a:off x="614363" y="3305770"/>
            <a:ext cx="3729038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4444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ACADEMIC CONTEXT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614363" y="3505795"/>
            <a:ext cx="3729038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4286"/>
              </a:lnSpc>
              <a:buNone/>
            </a:pPr>
            <a:r>
              <a:rPr lang="en-US" sz="750" dirty="0">
                <a:solidFill>
                  <a:srgbClr val="FFFFFF">
                    <a:alpha val="80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Records Semester details to categorize academic performance chronologically.</a:t>
            </a:r>
            <a:endParaRPr lang="en-US" sz="750" dirty="0"/>
          </a:p>
        </p:txBody>
      </p:sp>
      <p:sp>
        <p:nvSpPr>
          <p:cNvPr id="18" name="Text 14"/>
          <p:cNvSpPr/>
          <p:nvPr/>
        </p:nvSpPr>
        <p:spPr>
          <a:xfrm>
            <a:off x="614363" y="3762970"/>
            <a:ext cx="3729038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4444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PERSISTENT STORAGE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614363" y="3962995"/>
            <a:ext cx="3729038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4286"/>
              </a:lnSpc>
              <a:buNone/>
            </a:pPr>
            <a:r>
              <a:rPr lang="en-US" sz="750" dirty="0">
                <a:solidFill>
                  <a:srgbClr val="FFFFFF">
                    <a:alpha val="80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Utilizes LocalStorage for instant, client-side data persistence without a server.</a:t>
            </a:r>
            <a:endParaRPr lang="en-US" sz="750" dirty="0"/>
          </a:p>
        </p:txBody>
      </p:sp>
      <p:sp>
        <p:nvSpPr>
          <p:cNvPr id="20" name="Text 16"/>
          <p:cNvSpPr/>
          <p:nvPr/>
        </p:nvSpPr>
        <p:spPr>
          <a:xfrm>
            <a:off x="457200" y="4277320"/>
            <a:ext cx="388620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b="1" spc="1" kern="0" dirty="0">
                <a:solidFill>
                  <a:srgbClr val="F9A8D4"/>
                </a:solidFill>
                <a:latin typeface="Rajdhani Bold" pitchFamily="34" charset="0"/>
                <a:ea typeface="Rajdhani Bold" pitchFamily="34" charset="-122"/>
                <a:cs typeface="Rajdhani Bold" pitchFamily="34" charset="-120"/>
              </a:rPr>
              <a:t>DATA INTEGRITY SECURED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 rot="-720000">
            <a:off x="8572500" y="4572000"/>
            <a:ext cx="3429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ct val="106667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07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 rot="120000">
            <a:off x="228600" y="1200150"/>
            <a:ext cx="3352790" cy="2743200"/>
          </a:xfrm>
          <a:prstGeom prst="rect">
            <a:avLst/>
          </a:prstGeom>
          <a:solidFill>
            <a:srgbClr val="000000">
              <a:alpha val="0"/>
            </a:srgbClr>
          </a:solidFill>
          <a:ln w="9144">
            <a:solidFill>
              <a:srgbClr val="00FFFF">
                <a:alpha val="30000"/>
              </a:srgbClr>
            </a:solidFill>
            <a:prstDash val="solid"/>
          </a:ln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20000">
            <a:off x="228600" y="1200150"/>
            <a:ext cx="3352791" cy="274320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 rot="-180000">
            <a:off x="228600" y="685800"/>
            <a:ext cx="2286000" cy="600075"/>
          </a:xfrm>
          <a:prstGeom prst="rect">
            <a:avLst/>
          </a:prstGeom>
          <a:solidFill>
            <a:srgbClr val="000000">
              <a:alpha val="7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228600" y="685800"/>
            <a:ext cx="28575" cy="600075"/>
          </a:xfrm>
          <a:prstGeom prst="rect">
            <a:avLst/>
          </a:prstGeom>
          <a:solidFill>
            <a:srgbClr val="F472B6"/>
          </a:solidFill>
          <a:ln/>
        </p:spPr>
      </p:sp>
      <p:sp>
        <p:nvSpPr>
          <p:cNvPr id="7" name="Text 3"/>
          <p:cNvSpPr/>
          <p:nvPr/>
        </p:nvSpPr>
        <p:spPr>
          <a:xfrm rot="-180000">
            <a:off x="314325" y="771525"/>
            <a:ext cx="211455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4286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Real-time data synchronization ensures that every mark entered is instantly mapped to the correct student profile.</a:t>
            </a:r>
            <a:endParaRPr lang="en-US" sz="750" dirty="0"/>
          </a:p>
        </p:txBody>
      </p:sp>
      <p:sp>
        <p:nvSpPr>
          <p:cNvPr id="8" name="Text 4"/>
          <p:cNvSpPr/>
          <p:nvPr/>
        </p:nvSpPr>
        <p:spPr>
          <a:xfrm>
            <a:off x="4002551" y="682228"/>
            <a:ext cx="4720261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2450" b="1" spc="2" kern="0" dirty="0">
                <a:solidFill>
                  <a:srgbClr val="000000"/>
                </a:solidFill>
                <a:latin typeface="Orbitron Black" pitchFamily="34" charset="0"/>
                <a:ea typeface="Orbitron Black" pitchFamily="34" charset="-122"/>
                <a:cs typeface="Orbitron Black" pitchFamily="34" charset="-120"/>
              </a:rPr>
              <a:t>PERFORMANCE TRACKING</a:t>
            </a:r>
            <a:endParaRPr lang="en-US" sz="2450" dirty="0"/>
          </a:p>
        </p:txBody>
      </p:sp>
      <p:sp>
        <p:nvSpPr>
          <p:cNvPr id="9" name="Text 5"/>
          <p:cNvSpPr/>
          <p:nvPr/>
        </p:nvSpPr>
        <p:spPr>
          <a:xfrm>
            <a:off x="4152891" y="1796653"/>
            <a:ext cx="453388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6667"/>
              </a:lnSpc>
              <a:buNone/>
            </a:pPr>
            <a:r>
              <a:rPr lang="en-US" sz="1200" b="1" dirty="0">
                <a:solidFill>
                  <a:srgbClr val="F472B6"/>
                </a:solidFill>
                <a:latin typeface="Rajdhani Bold" pitchFamily="34" charset="0"/>
                <a:ea typeface="Rajdhani Bold" pitchFamily="34" charset="-122"/>
                <a:cs typeface="Rajdhani Bold" pitchFamily="34" charset="-120"/>
              </a:rPr>
              <a:t>PRECISION DATA ENTRY INTERFACE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4152891" y="2196703"/>
            <a:ext cx="4533881" cy="4643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FFFFF">
                    <a:alpha val="90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The core engine for academic assessment. Link </a:t>
            </a:r>
            <a:r>
              <a:rPr lang="en-US" sz="1050" dirty="0">
                <a:solidFill>
                  <a:srgbClr val="FFFFFF">
                    <a:alpha val="90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subject-specific marks</a:t>
            </a:r>
            <a:r>
              <a:rPr lang="en-US" sz="1050" dirty="0">
                <a:solidFill>
                  <a:srgbClr val="FFFFFF">
                    <a:alpha val="90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 to unique student identities with </a:t>
            </a:r>
            <a:r>
              <a:rPr lang="en-US" sz="1050" dirty="0">
                <a:solidFill>
                  <a:srgbClr val="F9A8D4">
                    <a:alpha val="90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automated validation</a:t>
            </a:r>
            <a:r>
              <a:rPr lang="en-US" sz="1050" dirty="0">
                <a:solidFill>
                  <a:srgbClr val="FFFFFF">
                    <a:alpha val="90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 protocols.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4310053" y="2832497"/>
            <a:ext cx="4376719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4444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ROLL NUMBER LINKAGE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4310053" y="3032522"/>
            <a:ext cx="4376719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4286"/>
              </a:lnSpc>
              <a:buNone/>
            </a:pPr>
            <a:r>
              <a:rPr lang="en-US" sz="750" dirty="0">
                <a:solidFill>
                  <a:srgbClr val="FFFFFF">
                    <a:alpha val="80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Ensures marks are attributed to the correct student record via unique identifiers.</a:t>
            </a:r>
            <a:endParaRPr lang="en-US" sz="750" dirty="0"/>
          </a:p>
        </p:txBody>
      </p:sp>
      <p:sp>
        <p:nvSpPr>
          <p:cNvPr id="13" name="Text 9"/>
          <p:cNvSpPr/>
          <p:nvPr/>
        </p:nvSpPr>
        <p:spPr>
          <a:xfrm>
            <a:off x="4310053" y="3289697"/>
            <a:ext cx="4376719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4444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SUBJECT-WISE METRICS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4310053" y="3489722"/>
            <a:ext cx="4376719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4286"/>
              </a:lnSpc>
              <a:buNone/>
            </a:pPr>
            <a:r>
              <a:rPr lang="en-US" sz="750" dirty="0">
                <a:solidFill>
                  <a:srgbClr val="FFFFFF">
                    <a:alpha val="80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Input fields for Subject Name, Obtained Marks, and Total Marks for granular tracking.</a:t>
            </a:r>
            <a:endParaRPr lang="en-US" sz="750" dirty="0"/>
          </a:p>
        </p:txBody>
      </p:sp>
      <p:sp>
        <p:nvSpPr>
          <p:cNvPr id="15" name="Text 11"/>
          <p:cNvSpPr/>
          <p:nvPr/>
        </p:nvSpPr>
        <p:spPr>
          <a:xfrm>
            <a:off x="4310053" y="3746897"/>
            <a:ext cx="4376719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4444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STUDENT VALIDATION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4310053" y="3946922"/>
            <a:ext cx="4376719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4286"/>
              </a:lnSpc>
              <a:buNone/>
            </a:pPr>
            <a:r>
              <a:rPr lang="en-US" sz="750" dirty="0">
                <a:solidFill>
                  <a:srgbClr val="FFFFFF">
                    <a:alpha val="80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Real-time system check to verify student existence before allowing data persistence.</a:t>
            </a:r>
            <a:endParaRPr lang="en-US" sz="750" dirty="0"/>
          </a:p>
        </p:txBody>
      </p:sp>
      <p:sp>
        <p:nvSpPr>
          <p:cNvPr id="17" name="Text 13"/>
          <p:cNvSpPr/>
          <p:nvPr/>
        </p:nvSpPr>
        <p:spPr>
          <a:xfrm>
            <a:off x="4152891" y="4261247"/>
            <a:ext cx="4533881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b="1" i="1" spc="1" kern="0" dirty="0">
                <a:solidFill>
                  <a:srgbClr val="F9A8D4"/>
                </a:solidFill>
                <a:latin typeface="Rajdhani Bold" pitchFamily="34" charset="0"/>
                <a:ea typeface="Rajdhani Bold" pitchFamily="34" charset="-122"/>
                <a:cs typeface="Rajdhani Bold" pitchFamily="34" charset="-120"/>
              </a:rPr>
              <a:t>"Data integrity is the heartbeat of academic transparency."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 rot="720000">
            <a:off x="8572500" y="4572000"/>
            <a:ext cx="3429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ct val="106667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08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 rot="-120000">
            <a:off x="5676882" y="1200150"/>
            <a:ext cx="3124190" cy="2743200"/>
          </a:xfrm>
          <a:prstGeom prst="rect">
            <a:avLst/>
          </a:prstGeom>
          <a:solidFill>
            <a:srgbClr val="000000">
              <a:alpha val="0"/>
            </a:srgbClr>
          </a:solidFill>
          <a:ln w="9144">
            <a:solidFill>
              <a:srgbClr val="00FFFF">
                <a:alpha val="30000"/>
              </a:srgbClr>
            </a:solidFill>
            <a:prstDash val="solid"/>
          </a:ln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-120000">
            <a:off x="5676881" y="1200150"/>
            <a:ext cx="3124191" cy="274320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 rot="180000">
            <a:off x="6629372" y="685800"/>
            <a:ext cx="2286000" cy="457200"/>
          </a:xfrm>
          <a:prstGeom prst="rect">
            <a:avLst/>
          </a:prstGeom>
          <a:solidFill>
            <a:srgbClr val="000000">
              <a:alpha val="7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8886797" y="685800"/>
            <a:ext cx="28575" cy="45720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7" name="Text 3"/>
          <p:cNvSpPr/>
          <p:nvPr/>
        </p:nvSpPr>
        <p:spPr>
          <a:xfrm rot="180000">
            <a:off x="6715097" y="771525"/>
            <a:ext cx="21145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4286"/>
              </a:lnSpc>
              <a:buNone/>
            </a:pPr>
            <a:r>
              <a:rPr lang="en-US" sz="750" i="1" dirty="0">
                <a:solidFill>
                  <a:srgbClr val="F9A8D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"Algorithms transform raw data into academic truth, eliminating human bias and error."</a:t>
            </a:r>
            <a:endParaRPr lang="en-US" sz="750" dirty="0"/>
          </a:p>
        </p:txBody>
      </p:sp>
      <p:sp>
        <p:nvSpPr>
          <p:cNvPr id="8" name="Text 4"/>
          <p:cNvSpPr/>
          <p:nvPr/>
        </p:nvSpPr>
        <p:spPr>
          <a:xfrm>
            <a:off x="457200" y="926009"/>
            <a:ext cx="268499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2450" b="1" spc="2" kern="0" dirty="0">
                <a:solidFill>
                  <a:srgbClr val="000000"/>
                </a:solidFill>
                <a:latin typeface="Orbitron Black" pitchFamily="34" charset="0"/>
                <a:ea typeface="Orbitron Black" pitchFamily="34" charset="-122"/>
                <a:cs typeface="Orbitron Black" pitchFamily="34" charset="-120"/>
              </a:rPr>
              <a:t>AUTOMATED</a:t>
            </a:r>
            <a:endParaRPr lang="en-US" sz="2450" dirty="0"/>
          </a:p>
        </p:txBody>
      </p:sp>
      <p:sp>
        <p:nvSpPr>
          <p:cNvPr id="9" name="Text 5"/>
          <p:cNvSpPr/>
          <p:nvPr/>
        </p:nvSpPr>
        <p:spPr>
          <a:xfrm>
            <a:off x="471488" y="926009"/>
            <a:ext cx="268499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2450" b="1" spc="2" kern="0" dirty="0">
                <a:solidFill>
                  <a:srgbClr val="000000"/>
                </a:solidFill>
                <a:latin typeface="Orbitron Black" pitchFamily="34" charset="0"/>
                <a:ea typeface="Orbitron Black" pitchFamily="34" charset="-122"/>
                <a:cs typeface="Orbitron Black" pitchFamily="34" charset="-120"/>
              </a:rPr>
              <a:t>AUTOMATED</a:t>
            </a:r>
            <a:endParaRPr lang="en-US" sz="2450" dirty="0"/>
          </a:p>
        </p:txBody>
      </p:sp>
      <p:sp>
        <p:nvSpPr>
          <p:cNvPr id="10" name="Text 6"/>
          <p:cNvSpPr/>
          <p:nvPr/>
        </p:nvSpPr>
        <p:spPr>
          <a:xfrm>
            <a:off x="442913" y="926009"/>
            <a:ext cx="268499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2450" b="1" spc="2" kern="0" dirty="0">
                <a:solidFill>
                  <a:srgbClr val="000000"/>
                </a:solidFill>
                <a:latin typeface="Orbitron Black" pitchFamily="34" charset="0"/>
                <a:ea typeface="Orbitron Black" pitchFamily="34" charset="-122"/>
                <a:cs typeface="Orbitron Black" pitchFamily="34" charset="-120"/>
              </a:rPr>
              <a:t>AUTOMATED</a:t>
            </a:r>
            <a:endParaRPr lang="en-US" sz="2450" dirty="0"/>
          </a:p>
        </p:txBody>
      </p:sp>
      <p:sp>
        <p:nvSpPr>
          <p:cNvPr id="11" name="Text 7"/>
          <p:cNvSpPr/>
          <p:nvPr/>
        </p:nvSpPr>
        <p:spPr>
          <a:xfrm>
            <a:off x="914400" y="1224260"/>
            <a:ext cx="1276945" cy="4304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2450" b="1" spc="2" kern="0" dirty="0">
                <a:solidFill>
                  <a:srgbClr val="F472B6"/>
                </a:solidFill>
                <a:latin typeface="Orbitron Black" pitchFamily="34" charset="0"/>
                <a:ea typeface="Orbitron Black" pitchFamily="34" charset="-122"/>
                <a:cs typeface="Orbitron Black" pitchFamily="34" charset="-120"/>
              </a:rPr>
              <a:t>LOGIC</a:t>
            </a:r>
            <a:endParaRPr lang="en-US" sz="2450" dirty="0"/>
          </a:p>
        </p:txBody>
      </p:sp>
      <p:sp>
        <p:nvSpPr>
          <p:cNvPr id="12" name="Text 8"/>
          <p:cNvSpPr/>
          <p:nvPr/>
        </p:nvSpPr>
        <p:spPr>
          <a:xfrm>
            <a:off x="2191345" y="1224260"/>
            <a:ext cx="1684502" cy="4304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2450" b="1" spc="2" kern="0" dirty="0">
                <a:solidFill>
                  <a:srgbClr val="000000"/>
                </a:solidFill>
                <a:latin typeface="Orbitron Black" pitchFamily="34" charset="0"/>
                <a:ea typeface="Orbitron Black" pitchFamily="34" charset="-122"/>
                <a:cs typeface="Orbitron Black" pitchFamily="34" charset="-120"/>
              </a:rPr>
              <a:t>ENGINE</a:t>
            </a:r>
            <a:endParaRPr lang="en-US" sz="2450" dirty="0"/>
          </a:p>
        </p:txBody>
      </p:sp>
      <p:sp>
        <p:nvSpPr>
          <p:cNvPr id="13" name="Text 9"/>
          <p:cNvSpPr/>
          <p:nvPr/>
        </p:nvSpPr>
        <p:spPr>
          <a:xfrm>
            <a:off x="685800" y="2040434"/>
            <a:ext cx="441958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6667"/>
              </a:lnSpc>
              <a:buNone/>
            </a:pPr>
            <a:r>
              <a:rPr lang="en-US" sz="1200" b="1" dirty="0">
                <a:solidFill>
                  <a:srgbClr val="F472B6"/>
                </a:solidFill>
                <a:latin typeface="Rajdhani Bold" pitchFamily="34" charset="0"/>
                <a:ea typeface="Rajdhani Bold" pitchFamily="34" charset="-122"/>
                <a:cs typeface="Rajdhani Bold" pitchFamily="34" charset="-120"/>
              </a:rPr>
              <a:t>THE CALCULATION LAYER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685800" y="2440484"/>
            <a:ext cx="4419581" cy="4643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FFFFF">
                    <a:alpha val="90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The system processes academic metrics through a </a:t>
            </a:r>
            <a:r>
              <a:rPr lang="en-US" sz="1050" i="1" dirty="0">
                <a:solidFill>
                  <a:srgbClr val="FFFFFF">
                    <a:alpha val="90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predefined logic </a:t>
            </a:r>
            <a:r>
              <a:rPr lang="en-US" sz="1050" i="1" dirty="0">
                <a:solidFill>
                  <a:srgbClr val="FFFFFF">
                    <a:alpha val="90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matrix</a:t>
            </a:r>
            <a:r>
              <a:rPr lang="en-US" sz="1050" dirty="0">
                <a:solidFill>
                  <a:srgbClr val="FFFFFF">
                    <a:alpha val="90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 to determine final outcomes instantly.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814388" y="3076277"/>
            <a:ext cx="1032439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4444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PERCENTAGE</a:t>
            </a:r>
            <a:endParaRPr lang="en-US" sz="950" dirty="0"/>
          </a:p>
        </p:txBody>
      </p:sp>
      <p:sp>
        <p:nvSpPr>
          <p:cNvPr id="16" name="Text 12"/>
          <p:cNvSpPr/>
          <p:nvPr/>
        </p:nvSpPr>
        <p:spPr>
          <a:xfrm>
            <a:off x="814388" y="3276302"/>
            <a:ext cx="1032439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4286"/>
              </a:lnSpc>
              <a:buNone/>
            </a:pPr>
            <a:r>
              <a:rPr lang="en-US" sz="750" dirty="0">
                <a:solidFill>
                  <a:srgbClr val="FFFFFF">
                    <a:alpha val="70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Obtained / Total * 100</a:t>
            </a:r>
            <a:endParaRPr lang="en-US" sz="750" dirty="0"/>
          </a:p>
        </p:txBody>
      </p:sp>
      <p:sp>
        <p:nvSpPr>
          <p:cNvPr id="17" name="Text 13"/>
          <p:cNvSpPr/>
          <p:nvPr/>
        </p:nvSpPr>
        <p:spPr>
          <a:xfrm>
            <a:off x="2089714" y="3076277"/>
            <a:ext cx="105934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4444"/>
              </a:lnSpc>
              <a:buNone/>
            </a:pPr>
            <a:r>
              <a:rPr lang="en-US" sz="950" dirty="0">
                <a:solidFill>
                  <a:srgbClr val="F9A8D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GRADING</a:t>
            </a:r>
            <a:endParaRPr lang="en-US" sz="950" dirty="0"/>
          </a:p>
        </p:txBody>
      </p:sp>
      <p:sp>
        <p:nvSpPr>
          <p:cNvPr id="18" name="Text 14"/>
          <p:cNvSpPr/>
          <p:nvPr/>
        </p:nvSpPr>
        <p:spPr>
          <a:xfrm>
            <a:off x="2089714" y="3276302"/>
            <a:ext cx="105934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4286"/>
              </a:lnSpc>
              <a:buNone/>
            </a:pPr>
            <a:r>
              <a:rPr lang="en-US" sz="750" dirty="0">
                <a:solidFill>
                  <a:srgbClr val="FFFFFF">
                    <a:alpha val="70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 (75+), B (50+), F (&lt;50)</a:t>
            </a:r>
            <a:endParaRPr lang="en-US" sz="750" dirty="0"/>
          </a:p>
        </p:txBody>
      </p:sp>
      <p:sp>
        <p:nvSpPr>
          <p:cNvPr id="19" name="Text 15"/>
          <p:cNvSpPr/>
          <p:nvPr/>
        </p:nvSpPr>
        <p:spPr>
          <a:xfrm>
            <a:off x="3391942" y="3076277"/>
            <a:ext cx="1171966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4444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STATUS</a:t>
            </a:r>
            <a:endParaRPr lang="en-US" sz="950" dirty="0"/>
          </a:p>
        </p:txBody>
      </p:sp>
      <p:sp>
        <p:nvSpPr>
          <p:cNvPr id="20" name="Text 16"/>
          <p:cNvSpPr/>
          <p:nvPr/>
        </p:nvSpPr>
        <p:spPr>
          <a:xfrm>
            <a:off x="3391942" y="3276302"/>
            <a:ext cx="1171966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4286"/>
              </a:lnSpc>
              <a:buNone/>
            </a:pPr>
            <a:r>
              <a:rPr lang="en-US" sz="750" dirty="0">
                <a:solidFill>
                  <a:srgbClr val="FFFFFF">
                    <a:alpha val="70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Pass / Fail Determination</a:t>
            </a:r>
            <a:endParaRPr lang="en-US" sz="750" dirty="0"/>
          </a:p>
        </p:txBody>
      </p:sp>
      <p:sp>
        <p:nvSpPr>
          <p:cNvPr id="21" name="Text 17"/>
          <p:cNvSpPr/>
          <p:nvPr/>
        </p:nvSpPr>
        <p:spPr>
          <a:xfrm>
            <a:off x="685800" y="3590627"/>
            <a:ext cx="4419581" cy="626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FFFFFF">
                    <a:alpha val="80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By automating the assessment process, the system ensures consistency across all student records, providing a reliable foundation for academic reporting and analysis.</a:t>
            </a:r>
            <a:endParaRPr lang="en-US" sz="950" dirty="0"/>
          </a:p>
        </p:txBody>
      </p:sp>
      <p:sp>
        <p:nvSpPr>
          <p:cNvPr id="22" name="Text 18"/>
          <p:cNvSpPr/>
          <p:nvPr/>
        </p:nvSpPr>
        <p:spPr>
          <a:xfrm rot="-720000">
            <a:off x="8572500" y="4572000"/>
            <a:ext cx="3429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ct val="106667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09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371600" y="1028700"/>
            <a:ext cx="571500" cy="7144"/>
          </a:xfrm>
          <a:prstGeom prst="rect">
            <a:avLst/>
          </a:prstGeom>
          <a:solidFill>
            <a:srgbClr val="00FFFF">
              <a:alpha val="50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1893094" y="1007269"/>
            <a:ext cx="50006" cy="50006"/>
          </a:xfrm>
          <a:prstGeom prst="ellipse">
            <a:avLst/>
          </a:prstGeom>
          <a:solidFill>
            <a:srgbClr val="00FFFF"/>
          </a:solidFill>
          <a:ln/>
        </p:spPr>
      </p:sp>
      <p:sp>
        <p:nvSpPr>
          <p:cNvPr id="5" name="Text 2"/>
          <p:cNvSpPr/>
          <p:nvPr/>
        </p:nvSpPr>
        <p:spPr>
          <a:xfrm>
            <a:off x="1371600" y="1028700"/>
            <a:ext cx="571500" cy="71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100%</a:t>
            </a:r>
            <a:endParaRPr lang="en-US" sz="600" dirty="0"/>
          </a:p>
        </p:txBody>
      </p:sp>
      <p:sp>
        <p:nvSpPr>
          <p:cNvPr id="6" name="Shape 3"/>
          <p:cNvSpPr/>
          <p:nvPr/>
        </p:nvSpPr>
        <p:spPr>
          <a:xfrm>
            <a:off x="1371600" y="1800225"/>
            <a:ext cx="571500" cy="7144"/>
          </a:xfrm>
          <a:prstGeom prst="rect">
            <a:avLst/>
          </a:prstGeom>
          <a:solidFill>
            <a:srgbClr val="00FFFF">
              <a:alpha val="50000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1893094" y="1778794"/>
            <a:ext cx="50006" cy="50006"/>
          </a:xfrm>
          <a:prstGeom prst="ellipse">
            <a:avLst/>
          </a:prstGeom>
          <a:solidFill>
            <a:srgbClr val="00FFFF"/>
          </a:solidFill>
          <a:ln/>
        </p:spPr>
      </p:sp>
      <p:sp>
        <p:nvSpPr>
          <p:cNvPr id="8" name="Text 5"/>
          <p:cNvSpPr/>
          <p:nvPr/>
        </p:nvSpPr>
        <p:spPr>
          <a:xfrm>
            <a:off x="1371600" y="1800225"/>
            <a:ext cx="571500" cy="71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75%</a:t>
            </a:r>
            <a:endParaRPr lang="en-US" sz="600" dirty="0"/>
          </a:p>
        </p:txBody>
      </p:sp>
      <p:sp>
        <p:nvSpPr>
          <p:cNvPr id="9" name="Shape 6"/>
          <p:cNvSpPr/>
          <p:nvPr/>
        </p:nvSpPr>
        <p:spPr>
          <a:xfrm>
            <a:off x="1371600" y="2571750"/>
            <a:ext cx="571500" cy="7144"/>
          </a:xfrm>
          <a:prstGeom prst="rect">
            <a:avLst/>
          </a:prstGeom>
          <a:solidFill>
            <a:srgbClr val="00FFFF">
              <a:alpha val="50000"/>
            </a:srgbClr>
          </a:solidFill>
          <a:ln/>
        </p:spPr>
      </p:sp>
      <p:sp>
        <p:nvSpPr>
          <p:cNvPr id="10" name="Shape 7"/>
          <p:cNvSpPr/>
          <p:nvPr/>
        </p:nvSpPr>
        <p:spPr>
          <a:xfrm>
            <a:off x="1893094" y="2550319"/>
            <a:ext cx="50006" cy="50006"/>
          </a:xfrm>
          <a:prstGeom prst="ellipse">
            <a:avLst/>
          </a:prstGeom>
          <a:solidFill>
            <a:srgbClr val="00FFFF"/>
          </a:solidFill>
          <a:ln/>
        </p:spPr>
      </p:sp>
      <p:sp>
        <p:nvSpPr>
          <p:cNvPr id="11" name="Text 8"/>
          <p:cNvSpPr/>
          <p:nvPr/>
        </p:nvSpPr>
        <p:spPr>
          <a:xfrm>
            <a:off x="1371600" y="2571750"/>
            <a:ext cx="571500" cy="71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50%</a:t>
            </a:r>
            <a:endParaRPr lang="en-US" sz="600" dirty="0"/>
          </a:p>
        </p:txBody>
      </p:sp>
      <p:sp>
        <p:nvSpPr>
          <p:cNvPr id="12" name="Text 9"/>
          <p:cNvSpPr/>
          <p:nvPr/>
        </p:nvSpPr>
        <p:spPr>
          <a:xfrm>
            <a:off x="439180" y="508992"/>
            <a:ext cx="3922241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2450" b="1" spc="2" kern="0" dirty="0">
                <a:solidFill>
                  <a:srgbClr val="000000"/>
                </a:solidFill>
                <a:latin typeface="Orbitron Black" pitchFamily="34" charset="0"/>
                <a:ea typeface="Orbitron Black" pitchFamily="34" charset="-122"/>
                <a:cs typeface="Orbitron Black" pitchFamily="34" charset="-120"/>
              </a:rPr>
              <a:t>DYNAMIC RESULT</a:t>
            </a:r>
            <a:endParaRPr lang="en-US" sz="2450" dirty="0"/>
          </a:p>
        </p:txBody>
      </p:sp>
      <p:sp>
        <p:nvSpPr>
          <p:cNvPr id="13" name="Text 10"/>
          <p:cNvSpPr/>
          <p:nvPr/>
        </p:nvSpPr>
        <p:spPr>
          <a:xfrm>
            <a:off x="914400" y="909042"/>
            <a:ext cx="34290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2450" b="1" spc="2" kern="0" dirty="0">
                <a:solidFill>
                  <a:srgbClr val="000000"/>
                </a:solidFill>
                <a:latin typeface="Orbitron Black" pitchFamily="34" charset="0"/>
                <a:ea typeface="Orbitron Black" pitchFamily="34" charset="-122"/>
                <a:cs typeface="Orbitron Black" pitchFamily="34" charset="-120"/>
              </a:rPr>
              <a:t>PRESENTATION</a:t>
            </a:r>
            <a:endParaRPr lang="en-US" sz="2450" dirty="0"/>
          </a:p>
        </p:txBody>
      </p:sp>
      <p:sp>
        <p:nvSpPr>
          <p:cNvPr id="14" name="Text 11"/>
          <p:cNvSpPr/>
          <p:nvPr/>
        </p:nvSpPr>
        <p:spPr>
          <a:xfrm>
            <a:off x="457200" y="1680567"/>
            <a:ext cx="38862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6667"/>
              </a:lnSpc>
              <a:buNone/>
            </a:pPr>
            <a:r>
              <a:rPr lang="en-US" sz="1200" b="1" dirty="0">
                <a:solidFill>
                  <a:srgbClr val="F472B6"/>
                </a:solidFill>
                <a:latin typeface="Rajdhani Bold" pitchFamily="34" charset="0"/>
                <a:ea typeface="Rajdhani Bold" pitchFamily="34" charset="-122"/>
                <a:cs typeface="Rajdhani Bold" pitchFamily="34" charset="-120"/>
              </a:rPr>
              <a:t>COMPREHENSIVE PERFORMANCE REPORTING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57200" y="2080617"/>
            <a:ext cx="3886200" cy="6965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FFFFF">
                    <a:alpha val="90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The final output layer where raw data is transformed into </a:t>
            </a:r>
            <a:r>
              <a:rPr lang="en-US" sz="1050" dirty="0">
                <a:solidFill>
                  <a:srgbClr val="FFFFFF">
                    <a:alpha val="90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visual clarity</a:t>
            </a:r>
            <a:r>
              <a:rPr lang="en-US" sz="1050" dirty="0">
                <a:solidFill>
                  <a:srgbClr val="FFFFFF">
                    <a:alpha val="90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—presenting student achievements in a </a:t>
            </a:r>
            <a:r>
              <a:rPr lang="en-US" sz="1050" dirty="0">
                <a:solidFill>
                  <a:srgbClr val="FFFFFF">
                    <a:alpha val="90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structured, high-performance interface.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614363" y="2948583"/>
            <a:ext cx="3729038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4444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TABULAR DATA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614363" y="3148608"/>
            <a:ext cx="372903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4286"/>
              </a:lnSpc>
              <a:buNone/>
            </a:pPr>
            <a:r>
              <a:rPr lang="en-US" sz="750" dirty="0">
                <a:solidFill>
                  <a:srgbClr val="FFFFFF">
                    <a:alpha val="80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Organized display of Roll Number, Student Name, and Subject for easy identification.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614363" y="3548658"/>
            <a:ext cx="3729038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4444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ANALYTIC METRICS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614363" y="3748683"/>
            <a:ext cx="372903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4286"/>
              </a:lnSpc>
              <a:buNone/>
            </a:pPr>
            <a:r>
              <a:rPr lang="en-US" sz="750" dirty="0">
                <a:solidFill>
                  <a:srgbClr val="FFFFFF">
                    <a:alpha val="80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Clear visibility of Marks, Grade, and final Result status (Pass/Fail) for every entry.</a:t>
            </a:r>
            <a:endParaRPr lang="en-US" sz="750" dirty="0"/>
          </a:p>
        </p:txBody>
      </p:sp>
      <p:sp>
        <p:nvSpPr>
          <p:cNvPr id="20" name="Text 17"/>
          <p:cNvSpPr/>
          <p:nvPr/>
        </p:nvSpPr>
        <p:spPr>
          <a:xfrm>
            <a:off x="614363" y="4148733"/>
            <a:ext cx="3729038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4444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INSTANT RETRIEVAL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614363" y="4348758"/>
            <a:ext cx="372903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4286"/>
              </a:lnSpc>
              <a:buNone/>
            </a:pPr>
            <a:r>
              <a:rPr lang="en-US" sz="750" dirty="0">
                <a:solidFill>
                  <a:srgbClr val="FFFFFF">
                    <a:alpha val="80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Dynamic scanning of student outcomes with a focus on administrative efficiency.</a:t>
            </a:r>
            <a:endParaRPr lang="en-US" sz="750" dirty="0"/>
          </a:p>
        </p:txBody>
      </p:sp>
      <p:sp>
        <p:nvSpPr>
          <p:cNvPr id="22" name="Shape 19"/>
          <p:cNvSpPr/>
          <p:nvPr/>
        </p:nvSpPr>
        <p:spPr>
          <a:xfrm rot="120000">
            <a:off x="4914900" y="1200150"/>
            <a:ext cx="3886200" cy="2743200"/>
          </a:xfrm>
          <a:prstGeom prst="rect">
            <a:avLst/>
          </a:prstGeom>
          <a:solidFill>
            <a:srgbClr val="000000">
              <a:alpha val="0"/>
            </a:srgbClr>
          </a:solidFill>
          <a:ln w="9144">
            <a:solidFill>
              <a:srgbClr val="00FFFF">
                <a:alpha val="30000"/>
              </a:srgbClr>
            </a:solidFill>
            <a:prstDash val="solid"/>
          </a:ln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20000">
            <a:off x="4914900" y="1200150"/>
            <a:ext cx="3886200" cy="2743200"/>
          </a:xfrm>
          <a:prstGeom prst="rect">
            <a:avLst/>
          </a:prstGeom>
        </p:spPr>
      </p:pic>
      <p:sp>
        <p:nvSpPr>
          <p:cNvPr id="24" name="Shape 20"/>
          <p:cNvSpPr/>
          <p:nvPr/>
        </p:nvSpPr>
        <p:spPr>
          <a:xfrm rot="-120000">
            <a:off x="6400800" y="3943350"/>
            <a:ext cx="2286000" cy="514350"/>
          </a:xfrm>
          <a:prstGeom prst="rect">
            <a:avLst/>
          </a:prstGeom>
          <a:solidFill>
            <a:srgbClr val="000000">
              <a:alpha val="70000"/>
            </a:srgbClr>
          </a:solidFill>
          <a:ln/>
        </p:spPr>
      </p:sp>
      <p:sp>
        <p:nvSpPr>
          <p:cNvPr id="25" name="Shape 21"/>
          <p:cNvSpPr/>
          <p:nvPr/>
        </p:nvSpPr>
        <p:spPr>
          <a:xfrm>
            <a:off x="8658225" y="3943350"/>
            <a:ext cx="28575" cy="514350"/>
          </a:xfrm>
          <a:prstGeom prst="rect">
            <a:avLst/>
          </a:prstGeom>
          <a:solidFill>
            <a:srgbClr val="F472B6"/>
          </a:solidFill>
          <a:ln/>
        </p:spPr>
      </p:sp>
      <p:sp>
        <p:nvSpPr>
          <p:cNvPr id="26" name="Text 22"/>
          <p:cNvSpPr/>
          <p:nvPr/>
        </p:nvSpPr>
        <p:spPr>
          <a:xfrm rot="-120000">
            <a:off x="6515100" y="4057650"/>
            <a:ext cx="20574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4286"/>
              </a:lnSpc>
              <a:buNone/>
            </a:pPr>
            <a:r>
              <a:rPr lang="en-US" sz="750" i="1" dirty="0">
                <a:solidFill>
                  <a:srgbClr val="00000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"The presentation of data is as critical as the data itself—clarity drives decision-making."</a:t>
            </a:r>
            <a:endParaRPr lang="en-US" sz="750" dirty="0"/>
          </a:p>
        </p:txBody>
      </p:sp>
      <p:sp>
        <p:nvSpPr>
          <p:cNvPr id="27" name="Text 23"/>
          <p:cNvSpPr/>
          <p:nvPr/>
        </p:nvSpPr>
        <p:spPr>
          <a:xfrm rot="720000">
            <a:off x="8572500" y="4572000"/>
            <a:ext cx="3429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ct val="106667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10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685800"/>
            <a:ext cx="38862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8889"/>
              </a:lnSpc>
              <a:buNone/>
            </a:pPr>
            <a:r>
              <a:rPr lang="en-US" sz="1800" b="1" spc="1" kern="0" dirty="0">
                <a:solidFill>
                  <a:srgbClr val="000000"/>
                </a:solidFill>
                <a:latin typeface="Orbitron Black" pitchFamily="34" charset="0"/>
                <a:ea typeface="Orbitron Black" pitchFamily="34" charset="-122"/>
                <a:cs typeface="Orbitron Black" pitchFamily="34" charset="-120"/>
              </a:rPr>
              <a:t>FEATURES &amp; </a:t>
            </a:r>
            <a:r>
              <a:rPr lang="en-US" sz="1800" b="1" spc="1" kern="0" dirty="0">
                <a:solidFill>
                  <a:srgbClr val="000000"/>
                </a:solidFill>
                <a:latin typeface="Orbitron Black" pitchFamily="34" charset="0"/>
                <a:ea typeface="Orbitron Black" pitchFamily="34" charset="-122"/>
                <a:cs typeface="Orbitron Black" pitchFamily="34" charset="-120"/>
              </a:rPr>
              <a:t>CONSTRAINTS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442913" y="685800"/>
            <a:ext cx="38862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8889"/>
              </a:lnSpc>
              <a:buNone/>
            </a:pPr>
            <a:r>
              <a:rPr lang="en-US" sz="1800" b="1" spc="1" kern="0" dirty="0">
                <a:solidFill>
                  <a:srgbClr val="FF00FF"/>
                </a:solidFill>
                <a:latin typeface="Orbitron Black" pitchFamily="34" charset="0"/>
                <a:ea typeface="Orbitron Black" pitchFamily="34" charset="-122"/>
                <a:cs typeface="Orbitron Black" pitchFamily="34" charset="-120"/>
              </a:rPr>
              <a:t>FEATURES &amp;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442913" y="685800"/>
            <a:ext cx="38862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8889"/>
              </a:lnSpc>
              <a:buNone/>
            </a:pPr>
            <a:r>
              <a:rPr lang="en-US" sz="1800" b="1" spc="1" kern="0" dirty="0">
                <a:solidFill>
                  <a:srgbClr val="FF00FF"/>
                </a:solidFill>
                <a:latin typeface="Orbitron Black" pitchFamily="34" charset="0"/>
                <a:ea typeface="Orbitron Black" pitchFamily="34" charset="-122"/>
                <a:cs typeface="Orbitron Black" pitchFamily="34" charset="-120"/>
              </a:rPr>
              <a:t>CONSTRAINTS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457200" y="1685925"/>
            <a:ext cx="38862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6667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Rajdhani Bold" pitchFamily="34" charset="0"/>
                <a:ea typeface="Rajdhani Bold" pitchFamily="34" charset="-122"/>
                <a:cs typeface="Rajdhani Bold" pitchFamily="34" charset="-120"/>
              </a:rPr>
              <a:t>SYSTEM STRENGTHS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57200" y="2028825"/>
            <a:ext cx="160734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4444"/>
              </a:lnSpc>
              <a:buNone/>
            </a:pPr>
            <a:r>
              <a:rPr lang="en-US" sz="950" dirty="0">
                <a:solidFill>
                  <a:srgbClr val="F472B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▶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675084" y="2028825"/>
            <a:ext cx="1963164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4444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Simple &amp; Intuitive User Interface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457200" y="2286000"/>
            <a:ext cx="160734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4444"/>
              </a:lnSpc>
              <a:buNone/>
            </a:pPr>
            <a:r>
              <a:rPr lang="en-US" sz="950" dirty="0">
                <a:solidFill>
                  <a:srgbClr val="F472B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▶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675084" y="2286000"/>
            <a:ext cx="2196536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4444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High-Speed Client-Side Performance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457200" y="2543175"/>
            <a:ext cx="160734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4444"/>
              </a:lnSpc>
              <a:buNone/>
            </a:pPr>
            <a:r>
              <a:rPr lang="en-US" sz="950" dirty="0">
                <a:solidFill>
                  <a:srgbClr val="F472B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▶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675084" y="2543175"/>
            <a:ext cx="2139442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4444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Fully Responsive Cyberpunk Design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457200" y="2971800"/>
            <a:ext cx="38862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6667"/>
              </a:lnSpc>
              <a:buNone/>
            </a:pPr>
            <a:r>
              <a:rPr lang="en-US" sz="1200" b="1" dirty="0">
                <a:solidFill>
                  <a:srgbClr val="F472B6"/>
                </a:solidFill>
                <a:latin typeface="Rajdhani Bold" pitchFamily="34" charset="0"/>
                <a:ea typeface="Rajdhani Bold" pitchFamily="34" charset="-122"/>
                <a:cs typeface="Rajdhani Bold" pitchFamily="34" charset="-120"/>
              </a:rPr>
              <a:t>CURRENT LIMITATIONS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57200" y="3314700"/>
            <a:ext cx="98227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4444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▷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612577" y="3314700"/>
            <a:ext cx="2043531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4444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No Backend Database Integration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457200" y="3571875"/>
            <a:ext cx="98227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4444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▷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612577" y="3571875"/>
            <a:ext cx="188408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4444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Limited Data Security Protocols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457200" y="3829050"/>
            <a:ext cx="98227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4444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▷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612577" y="3829050"/>
            <a:ext cx="2175188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4444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Absence of Edit/Delete Functionality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457200" y="4257675"/>
            <a:ext cx="388620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b="1" spc="1" kern="0" dirty="0">
                <a:solidFill>
                  <a:srgbClr val="F9A8D4"/>
                </a:solidFill>
                <a:latin typeface="Rajdhani Bold" pitchFamily="34" charset="0"/>
                <a:ea typeface="Rajdhani Bold" pitchFamily="34" charset="-122"/>
                <a:cs typeface="Rajdhani Bold" pitchFamily="34" charset="-120"/>
              </a:rPr>
              <a:t>DEFINING THE SCOPE OF DIGITAL LOGIC</a:t>
            </a:r>
            <a:endParaRPr lang="en-US" sz="1000" dirty="0"/>
          </a:p>
        </p:txBody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60000">
            <a:off x="4922044" y="1207294"/>
            <a:ext cx="3871912" cy="2728912"/>
          </a:xfrm>
          <a:prstGeom prst="rect">
            <a:avLst/>
          </a:prstGeom>
        </p:spPr>
      </p:pic>
      <p:sp>
        <p:nvSpPr>
          <p:cNvPr id="22" name="Shape 18"/>
          <p:cNvSpPr/>
          <p:nvPr/>
        </p:nvSpPr>
        <p:spPr>
          <a:xfrm rot="60000">
            <a:off x="4922044" y="1207294"/>
            <a:ext cx="3871912" cy="2728912"/>
          </a:xfrm>
          <a:prstGeom prst="rect">
            <a:avLst/>
          </a:prstGeom>
          <a:solidFill>
            <a:srgbClr val="00FFFF">
              <a:alpha val="20000"/>
            </a:srgbClr>
          </a:solidFill>
          <a:ln/>
        </p:spPr>
      </p:sp>
      <p:sp>
        <p:nvSpPr>
          <p:cNvPr id="23" name="Shape 19"/>
          <p:cNvSpPr/>
          <p:nvPr/>
        </p:nvSpPr>
        <p:spPr>
          <a:xfrm rot="-120000">
            <a:off x="6400800" y="3943350"/>
            <a:ext cx="2286000" cy="514350"/>
          </a:xfrm>
          <a:prstGeom prst="rect">
            <a:avLst/>
          </a:prstGeom>
          <a:solidFill>
            <a:srgbClr val="000000">
              <a:alpha val="70000"/>
            </a:srgbClr>
          </a:solidFill>
          <a:ln/>
        </p:spPr>
      </p:sp>
      <p:sp>
        <p:nvSpPr>
          <p:cNvPr id="24" name="Shape 20"/>
          <p:cNvSpPr/>
          <p:nvPr/>
        </p:nvSpPr>
        <p:spPr>
          <a:xfrm>
            <a:off x="6400800" y="3943350"/>
            <a:ext cx="28575" cy="514350"/>
          </a:xfrm>
          <a:prstGeom prst="rect">
            <a:avLst/>
          </a:prstGeom>
          <a:solidFill>
            <a:srgbClr val="F472B6"/>
          </a:solidFill>
          <a:ln/>
        </p:spPr>
      </p:sp>
      <p:sp>
        <p:nvSpPr>
          <p:cNvPr id="25" name="Text 21"/>
          <p:cNvSpPr/>
          <p:nvPr/>
        </p:nvSpPr>
        <p:spPr>
          <a:xfrm rot="-120000">
            <a:off x="6515100" y="4057650"/>
            <a:ext cx="20574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4286"/>
              </a:lnSpc>
              <a:buNone/>
            </a:pPr>
            <a:r>
              <a:rPr lang="en-US" sz="750" i="1" dirty="0">
                <a:solidFill>
                  <a:srgbClr val="00000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"Every system is defined as much by its boundaries as by its capabilities."</a:t>
            </a:r>
            <a:endParaRPr lang="en-US" sz="750" dirty="0"/>
          </a:p>
        </p:txBody>
      </p:sp>
      <p:sp>
        <p:nvSpPr>
          <p:cNvPr id="26" name="Text 22"/>
          <p:cNvSpPr/>
          <p:nvPr/>
        </p:nvSpPr>
        <p:spPr>
          <a:xfrm rot="720000">
            <a:off x="8572500" y="4572000"/>
            <a:ext cx="3429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ct val="106667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11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1160" y="1143000"/>
            <a:ext cx="5218454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4950" b="1" spc="4" kern="0" dirty="0">
                <a:solidFill>
                  <a:srgbClr val="000000"/>
                </a:solidFill>
                <a:latin typeface="Orbitron Black" pitchFamily="34" charset="0"/>
                <a:ea typeface="Orbitron Black" pitchFamily="34" charset="-122"/>
                <a:cs typeface="Orbitron Black" pitchFamily="34" charset="-120"/>
              </a:rPr>
              <a:t>SYSTEM</a:t>
            </a:r>
            <a:endParaRPr lang="en-US" sz="4950" dirty="0"/>
          </a:p>
        </p:txBody>
      </p:sp>
      <p:sp>
        <p:nvSpPr>
          <p:cNvPr id="4" name="Text 1"/>
          <p:cNvSpPr/>
          <p:nvPr/>
        </p:nvSpPr>
        <p:spPr>
          <a:xfrm>
            <a:off x="878360" y="1943100"/>
            <a:ext cx="4761254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4950" b="1" spc="4" kern="0" dirty="0">
                <a:solidFill>
                  <a:srgbClr val="000000"/>
                </a:solidFill>
                <a:latin typeface="Orbitron Black" pitchFamily="34" charset="0"/>
                <a:ea typeface="Orbitron Black" pitchFamily="34" charset="-122"/>
                <a:cs typeface="Orbitron Black" pitchFamily="34" charset="-120"/>
              </a:rPr>
              <a:t>COMPLETE</a:t>
            </a:r>
            <a:endParaRPr lang="en-US" sz="4950" dirty="0"/>
          </a:p>
        </p:txBody>
      </p:sp>
      <p:sp>
        <p:nvSpPr>
          <p:cNvPr id="5" name="Text 2"/>
          <p:cNvSpPr/>
          <p:nvPr/>
        </p:nvSpPr>
        <p:spPr>
          <a:xfrm>
            <a:off x="685800" y="2857500"/>
            <a:ext cx="4917774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500" b="1" spc="1" kern="0" dirty="0">
                <a:solidFill>
                  <a:srgbClr val="F472B6"/>
                </a:solidFill>
                <a:latin typeface="Rajdhani Bold" pitchFamily="34" charset="0"/>
                <a:ea typeface="Rajdhani Bold" pitchFamily="34" charset="-122"/>
                <a:cs typeface="Rajdhani Bold" pitchFamily="34" charset="-120"/>
              </a:rPr>
              <a:t>FUTURE VISION &amp; ENHANCEMENT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685800" y="3286125"/>
            <a:ext cx="4917774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4444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Efficient academic management through modern web logic.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685800" y="3543300"/>
            <a:ext cx="4917774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4444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 robust foundation for full-stack evolution.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685800" y="3800475"/>
            <a:ext cx="4917774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4444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THANK YOU FOR EXPLORING THE FUTURE.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8572500" y="4572000"/>
            <a:ext cx="3429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ct val="106667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12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2026-04-27T14:25:03Z</dcterms:created>
  <dcterms:modified xsi:type="dcterms:W3CDTF">2026-04-27T14:25:03Z</dcterms:modified>
</cp:coreProperties>
</file>